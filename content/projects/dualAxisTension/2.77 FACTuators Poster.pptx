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Lst>
  <p:sldSz cy="32918400" cx="38404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2096">
          <p15:clr>
            <a:srgbClr val="A4A3A4"/>
          </p15:clr>
        </p15:guide>
      </p15:sldGuideLst>
    </p:ext>
    <p:ext uri="http://customooxmlschemas.google.com/">
      <go:slidesCustomData xmlns:go="http://customooxmlschemas.google.com/" r:id="rId8" roundtripDataSignature="AMtx7mi2FB0pJ7gwWVpCGRszC5orxfME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F45138C-2CBD-4C80-A89C-059BB7349AF9}">
  <a:tblStyle styleId="{0F45138C-2CBD-4C80-A89C-059BB7349AF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2096"/>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1" name="Shape 11"/>
        <p:cNvGrpSpPr/>
        <p:nvPr/>
      </p:nvGrpSpPr>
      <p:grpSpPr>
        <a:xfrm>
          <a:off x="0" y="0"/>
          <a:ext cx="0" cy="0"/>
          <a:chOff x="0" y="0"/>
          <a:chExt cx="0" cy="0"/>
        </a:xfrm>
      </p:grpSpPr>
      <p:sp>
        <p:nvSpPr>
          <p:cNvPr id="12" name="Google Shape;12;p3"/>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 name="Google Shape;13;p3"/>
          <p:cNvSpPr txBox="1"/>
          <p:nvPr>
            <p:ph idx="1" type="body"/>
          </p:nvPr>
        </p:nvSpPr>
        <p:spPr>
          <a:xfrm>
            <a:off x="1920875" y="7678738"/>
            <a:ext cx="17205325" cy="21723350"/>
          </a:xfrm>
          <a:prstGeom prst="rect">
            <a:avLst/>
          </a:prstGeom>
          <a:noFill/>
          <a:ln>
            <a:noFill/>
          </a:ln>
        </p:spPr>
        <p:txBody>
          <a:bodyPr anchorCtr="0" anchor="t" bIns="203775" lIns="407550" spcFirstLastPara="1" rIns="407550" wrap="square" tIns="20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3"/>
          <p:cNvSpPr txBox="1"/>
          <p:nvPr>
            <p:ph idx="2" type="body"/>
          </p:nvPr>
        </p:nvSpPr>
        <p:spPr>
          <a:xfrm>
            <a:off x="19278600" y="7678738"/>
            <a:ext cx="17205325" cy="10785475"/>
          </a:xfrm>
          <a:prstGeom prst="rect">
            <a:avLst/>
          </a:prstGeom>
          <a:noFill/>
          <a:ln>
            <a:noFill/>
          </a:ln>
        </p:spPr>
        <p:txBody>
          <a:bodyPr anchorCtr="0" anchor="t" bIns="203775" lIns="407550" spcFirstLastPara="1" rIns="407550" wrap="square" tIns="20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 name="Google Shape;15;p3"/>
          <p:cNvSpPr txBox="1"/>
          <p:nvPr>
            <p:ph idx="3" type="body"/>
          </p:nvPr>
        </p:nvSpPr>
        <p:spPr>
          <a:xfrm>
            <a:off x="19278600" y="18616613"/>
            <a:ext cx="17205325" cy="10785475"/>
          </a:xfrm>
          <a:prstGeom prst="rect">
            <a:avLst/>
          </a:prstGeom>
          <a:noFill/>
          <a:ln>
            <a:noFill/>
          </a:ln>
        </p:spPr>
        <p:txBody>
          <a:bodyPr anchorCtr="0" anchor="t" bIns="203775" lIns="407550" spcFirstLastPara="1" rIns="407550" wrap="square" tIns="20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 name="Google Shape;16;p3"/>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b="0" i="0" sz="6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6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6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6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6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6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6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6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6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
          <p:cNvSpPr txBox="1"/>
          <p:nvPr>
            <p:ph type="ctrTitle"/>
          </p:nvPr>
        </p:nvSpPr>
        <p:spPr>
          <a:xfrm>
            <a:off x="2879725" y="10226675"/>
            <a:ext cx="32645350" cy="705485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 name="Google Shape;21;p4"/>
          <p:cNvSpPr txBox="1"/>
          <p:nvPr>
            <p:ph idx="1" type="subTitle"/>
          </p:nvPr>
        </p:nvSpPr>
        <p:spPr>
          <a:xfrm>
            <a:off x="5761038" y="18653125"/>
            <a:ext cx="26882724" cy="8413750"/>
          </a:xfrm>
          <a:prstGeom prst="rect">
            <a:avLst/>
          </a:prstGeom>
          <a:noFill/>
          <a:ln>
            <a:noFill/>
          </a:ln>
        </p:spPr>
        <p:txBody>
          <a:bodyPr anchorCtr="0" anchor="t" bIns="203775" lIns="407550" spcFirstLastPara="1" rIns="407550" wrap="square" tIns="203775">
            <a:noAutofit/>
          </a:bodyPr>
          <a:lstStyle>
            <a:lvl1pPr lvl="0" algn="ctr">
              <a:spcBef>
                <a:spcPts val="2880"/>
              </a:spcBef>
              <a:spcAft>
                <a:spcPts val="0"/>
              </a:spcAft>
              <a:buClr>
                <a:schemeClr val="dk1"/>
              </a:buClr>
              <a:buSzPts val="14400"/>
              <a:buFont typeface="Arial"/>
              <a:buNone/>
              <a:defRPr/>
            </a:lvl1pPr>
            <a:lvl2pPr lvl="1" algn="ctr">
              <a:spcBef>
                <a:spcPts val="2480"/>
              </a:spcBef>
              <a:spcAft>
                <a:spcPts val="0"/>
              </a:spcAft>
              <a:buClr>
                <a:schemeClr val="dk1"/>
              </a:buClr>
              <a:buSzPts val="12400"/>
              <a:buFont typeface="Arial"/>
              <a:buNone/>
              <a:defRPr/>
            </a:lvl2pPr>
            <a:lvl3pPr lvl="2" algn="ctr">
              <a:spcBef>
                <a:spcPts val="2160"/>
              </a:spcBef>
              <a:spcAft>
                <a:spcPts val="0"/>
              </a:spcAft>
              <a:buClr>
                <a:schemeClr val="dk1"/>
              </a:buClr>
              <a:buSzPts val="10800"/>
              <a:buFont typeface="Arial"/>
              <a:buNone/>
              <a:defRPr/>
            </a:lvl3pPr>
            <a:lvl4pPr lvl="3" algn="ctr">
              <a:spcBef>
                <a:spcPts val="1760"/>
              </a:spcBef>
              <a:spcAft>
                <a:spcPts val="0"/>
              </a:spcAft>
              <a:buClr>
                <a:schemeClr val="dk1"/>
              </a:buClr>
              <a:buSzPts val="8800"/>
              <a:buFont typeface="Arial"/>
              <a:buNone/>
              <a:defRPr/>
            </a:lvl4pPr>
            <a:lvl5pPr lvl="4" algn="ctr">
              <a:spcBef>
                <a:spcPts val="1760"/>
              </a:spcBef>
              <a:spcAft>
                <a:spcPts val="0"/>
              </a:spcAft>
              <a:buClr>
                <a:schemeClr val="dk1"/>
              </a:buClr>
              <a:buSzPts val="8800"/>
              <a:buFont typeface="Arial"/>
              <a:buNone/>
              <a:defRPr/>
            </a:lvl5pPr>
            <a:lvl6pPr lvl="5" algn="ctr">
              <a:spcBef>
                <a:spcPts val="1760"/>
              </a:spcBef>
              <a:spcAft>
                <a:spcPts val="0"/>
              </a:spcAft>
              <a:buClr>
                <a:schemeClr val="dk1"/>
              </a:buClr>
              <a:buSzPts val="8800"/>
              <a:buFont typeface="Arial"/>
              <a:buNone/>
              <a:defRPr/>
            </a:lvl6pPr>
            <a:lvl7pPr lvl="6" algn="ctr">
              <a:spcBef>
                <a:spcPts val="1760"/>
              </a:spcBef>
              <a:spcAft>
                <a:spcPts val="0"/>
              </a:spcAft>
              <a:buClr>
                <a:schemeClr val="dk1"/>
              </a:buClr>
              <a:buSzPts val="8800"/>
              <a:buFont typeface="Arial"/>
              <a:buNone/>
              <a:defRPr/>
            </a:lvl7pPr>
            <a:lvl8pPr lvl="7" algn="ctr">
              <a:spcBef>
                <a:spcPts val="1760"/>
              </a:spcBef>
              <a:spcAft>
                <a:spcPts val="0"/>
              </a:spcAft>
              <a:buClr>
                <a:schemeClr val="dk1"/>
              </a:buClr>
              <a:buSzPts val="8800"/>
              <a:buFont typeface="Arial"/>
              <a:buNone/>
              <a:defRPr/>
            </a:lvl8pPr>
            <a:lvl9pPr lvl="8" algn="ctr">
              <a:spcBef>
                <a:spcPts val="1760"/>
              </a:spcBef>
              <a:spcAft>
                <a:spcPts val="0"/>
              </a:spcAft>
              <a:buClr>
                <a:schemeClr val="dk1"/>
              </a:buClr>
              <a:buSzPts val="8800"/>
              <a:buFont typeface="Arial"/>
              <a:buNone/>
              <a:defRPr/>
            </a:lvl9pPr>
          </a:lstStyle>
          <a:p/>
        </p:txBody>
      </p:sp>
      <p:sp>
        <p:nvSpPr>
          <p:cNvPr id="22" name="Google Shape;22;p4"/>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5"/>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5"/>
          <p:cNvSpPr txBox="1"/>
          <p:nvPr>
            <p:ph idx="1" type="body"/>
          </p:nvPr>
        </p:nvSpPr>
        <p:spPr>
          <a:xfrm>
            <a:off x="1920875" y="7678738"/>
            <a:ext cx="34563051" cy="21723350"/>
          </a:xfrm>
          <a:prstGeom prst="rect">
            <a:avLst/>
          </a:prstGeom>
          <a:noFill/>
          <a:ln>
            <a:noFill/>
          </a:ln>
        </p:spPr>
        <p:txBody>
          <a:bodyPr anchorCtr="0" anchor="t" bIns="203775" lIns="407550" spcFirstLastPara="1" rIns="407550" wrap="square" tIns="20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5"/>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
          <p:cNvSpPr txBox="1"/>
          <p:nvPr>
            <p:ph type="title"/>
          </p:nvPr>
        </p:nvSpPr>
        <p:spPr>
          <a:xfrm>
            <a:off x="3033713" y="21153438"/>
            <a:ext cx="32643763" cy="6537325"/>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6"/>
          <p:cNvSpPr txBox="1"/>
          <p:nvPr>
            <p:ph idx="1" type="body"/>
          </p:nvPr>
        </p:nvSpPr>
        <p:spPr>
          <a:xfrm>
            <a:off x="3033713" y="13952538"/>
            <a:ext cx="32643763" cy="7200900"/>
          </a:xfrm>
          <a:prstGeom prst="rect">
            <a:avLst/>
          </a:prstGeom>
          <a:noFill/>
          <a:ln>
            <a:noFill/>
          </a:ln>
        </p:spPr>
        <p:txBody>
          <a:bodyPr anchorCtr="0" anchor="b" bIns="203775" lIns="407550" spcFirstLastPara="1" rIns="407550" wrap="square" tIns="203775">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34" name="Google Shape;34;p6"/>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7"/>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7"/>
          <p:cNvSpPr txBox="1"/>
          <p:nvPr>
            <p:ph idx="1" type="body"/>
          </p:nvPr>
        </p:nvSpPr>
        <p:spPr>
          <a:xfrm>
            <a:off x="1920875" y="7678738"/>
            <a:ext cx="17205325" cy="21723350"/>
          </a:xfrm>
          <a:prstGeom prst="rect">
            <a:avLst/>
          </a:prstGeom>
          <a:noFill/>
          <a:ln>
            <a:noFill/>
          </a:ln>
        </p:spPr>
        <p:txBody>
          <a:bodyPr anchorCtr="0" anchor="t" bIns="203775" lIns="407550" spcFirstLastPara="1" rIns="407550" wrap="square" tIns="203775">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0" name="Google Shape;40;p7"/>
          <p:cNvSpPr txBox="1"/>
          <p:nvPr>
            <p:ph idx="2" type="body"/>
          </p:nvPr>
        </p:nvSpPr>
        <p:spPr>
          <a:xfrm>
            <a:off x="19278600" y="7678738"/>
            <a:ext cx="17205325" cy="21723350"/>
          </a:xfrm>
          <a:prstGeom prst="rect">
            <a:avLst/>
          </a:prstGeom>
          <a:noFill/>
          <a:ln>
            <a:noFill/>
          </a:ln>
        </p:spPr>
        <p:txBody>
          <a:bodyPr anchorCtr="0" anchor="t" bIns="203775" lIns="407550" spcFirstLastPara="1" rIns="407550" wrap="square" tIns="203775">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41" name="Google Shape;41;p7"/>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7"/>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8"/>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8"/>
          <p:cNvSpPr txBox="1"/>
          <p:nvPr>
            <p:ph idx="1" type="body"/>
          </p:nvPr>
        </p:nvSpPr>
        <p:spPr>
          <a:xfrm>
            <a:off x="1920875" y="7369175"/>
            <a:ext cx="16968789" cy="3070225"/>
          </a:xfrm>
          <a:prstGeom prst="rect">
            <a:avLst/>
          </a:prstGeom>
          <a:noFill/>
          <a:ln>
            <a:noFill/>
          </a:ln>
        </p:spPr>
        <p:txBody>
          <a:bodyPr anchorCtr="0" anchor="b" bIns="203775" lIns="407550" spcFirstLastPara="1" rIns="407550" wrap="square" tIns="203775">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7" name="Google Shape;47;p8"/>
          <p:cNvSpPr txBox="1"/>
          <p:nvPr>
            <p:ph idx="2" type="body"/>
          </p:nvPr>
        </p:nvSpPr>
        <p:spPr>
          <a:xfrm>
            <a:off x="1920875" y="10439400"/>
            <a:ext cx="16968789" cy="18965863"/>
          </a:xfrm>
          <a:prstGeom prst="rect">
            <a:avLst/>
          </a:prstGeom>
          <a:noFill/>
          <a:ln>
            <a:noFill/>
          </a:ln>
        </p:spPr>
        <p:txBody>
          <a:bodyPr anchorCtr="0" anchor="t" bIns="203775" lIns="407550" spcFirstLastPara="1" rIns="407550" wrap="square" tIns="203775">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8" name="Google Shape;48;p8"/>
          <p:cNvSpPr txBox="1"/>
          <p:nvPr>
            <p:ph idx="3" type="body"/>
          </p:nvPr>
        </p:nvSpPr>
        <p:spPr>
          <a:xfrm>
            <a:off x="19508788" y="7369175"/>
            <a:ext cx="16975137" cy="3070225"/>
          </a:xfrm>
          <a:prstGeom prst="rect">
            <a:avLst/>
          </a:prstGeom>
          <a:noFill/>
          <a:ln>
            <a:noFill/>
          </a:ln>
        </p:spPr>
        <p:txBody>
          <a:bodyPr anchorCtr="0" anchor="b" bIns="203775" lIns="407550" spcFirstLastPara="1" rIns="407550" wrap="square" tIns="203775">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49" name="Google Shape;49;p8"/>
          <p:cNvSpPr txBox="1"/>
          <p:nvPr>
            <p:ph idx="4" type="body"/>
          </p:nvPr>
        </p:nvSpPr>
        <p:spPr>
          <a:xfrm>
            <a:off x="19508788" y="10439400"/>
            <a:ext cx="16975137" cy="18965863"/>
          </a:xfrm>
          <a:prstGeom prst="rect">
            <a:avLst/>
          </a:prstGeom>
          <a:noFill/>
          <a:ln>
            <a:noFill/>
          </a:ln>
        </p:spPr>
        <p:txBody>
          <a:bodyPr anchorCtr="0" anchor="t" bIns="203775" lIns="407550" spcFirstLastPara="1" rIns="407550" wrap="square" tIns="203775">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0" name="Google Shape;50;p8"/>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8"/>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9"/>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9"/>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0"/>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0"/>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11"/>
          <p:cNvSpPr txBox="1"/>
          <p:nvPr>
            <p:ph type="title"/>
          </p:nvPr>
        </p:nvSpPr>
        <p:spPr>
          <a:xfrm>
            <a:off x="1920875" y="1311275"/>
            <a:ext cx="12634912" cy="5576888"/>
          </a:xfrm>
          <a:prstGeom prst="rect">
            <a:avLst/>
          </a:prstGeom>
          <a:noFill/>
          <a:ln>
            <a:noFill/>
          </a:ln>
        </p:spPr>
        <p:txBody>
          <a:bodyPr anchorCtr="0" anchor="b" bIns="203775" lIns="407550" spcFirstLastPara="1" rIns="407550" wrap="square" tIns="20377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11"/>
          <p:cNvSpPr txBox="1"/>
          <p:nvPr>
            <p:ph idx="1" type="body"/>
          </p:nvPr>
        </p:nvSpPr>
        <p:spPr>
          <a:xfrm>
            <a:off x="15014575" y="1311275"/>
            <a:ext cx="21469349" cy="28093989"/>
          </a:xfrm>
          <a:prstGeom prst="rect">
            <a:avLst/>
          </a:prstGeom>
          <a:noFill/>
          <a:ln>
            <a:noFill/>
          </a:ln>
        </p:spPr>
        <p:txBody>
          <a:bodyPr anchorCtr="0" anchor="t" bIns="203775" lIns="407550" spcFirstLastPara="1" rIns="407550" wrap="square" tIns="203775">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5" name="Google Shape;65;p11"/>
          <p:cNvSpPr txBox="1"/>
          <p:nvPr>
            <p:ph idx="2" type="body"/>
          </p:nvPr>
        </p:nvSpPr>
        <p:spPr>
          <a:xfrm>
            <a:off x="1920875" y="6888163"/>
            <a:ext cx="12634912" cy="22517100"/>
          </a:xfrm>
          <a:prstGeom prst="rect">
            <a:avLst/>
          </a:prstGeom>
          <a:noFill/>
          <a:ln>
            <a:noFill/>
          </a:ln>
        </p:spPr>
        <p:txBody>
          <a:bodyPr anchorCtr="0" anchor="t" bIns="203775" lIns="407550" spcFirstLastPara="1" rIns="407550" wrap="square" tIns="203775">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6" name="Google Shape;66;p11"/>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1"/>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2"/>
          <p:cNvSpPr txBox="1"/>
          <p:nvPr>
            <p:ph type="title"/>
          </p:nvPr>
        </p:nvSpPr>
        <p:spPr>
          <a:xfrm>
            <a:off x="7527925" y="23042563"/>
            <a:ext cx="23042563" cy="2720975"/>
          </a:xfrm>
          <a:prstGeom prst="rect">
            <a:avLst/>
          </a:prstGeom>
          <a:noFill/>
          <a:ln>
            <a:noFill/>
          </a:ln>
        </p:spPr>
        <p:txBody>
          <a:bodyPr anchorCtr="0" anchor="b" bIns="203775" lIns="407550" spcFirstLastPara="1" rIns="407550" wrap="square" tIns="203775">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2"/>
          <p:cNvSpPr/>
          <p:nvPr>
            <p:ph idx="2" type="pic"/>
          </p:nvPr>
        </p:nvSpPr>
        <p:spPr>
          <a:xfrm>
            <a:off x="7527925" y="2941638"/>
            <a:ext cx="23042563" cy="19750086"/>
          </a:xfrm>
          <a:prstGeom prst="rect">
            <a:avLst/>
          </a:prstGeom>
          <a:noFill/>
          <a:ln>
            <a:noFill/>
          </a:ln>
        </p:spPr>
      </p:sp>
      <p:sp>
        <p:nvSpPr>
          <p:cNvPr id="72" name="Google Shape;72;p12"/>
          <p:cNvSpPr txBox="1"/>
          <p:nvPr>
            <p:ph idx="1" type="body"/>
          </p:nvPr>
        </p:nvSpPr>
        <p:spPr>
          <a:xfrm>
            <a:off x="7527925" y="25763538"/>
            <a:ext cx="23042563" cy="3862387"/>
          </a:xfrm>
          <a:prstGeom prst="rect">
            <a:avLst/>
          </a:prstGeom>
          <a:noFill/>
          <a:ln>
            <a:noFill/>
          </a:ln>
        </p:spPr>
        <p:txBody>
          <a:bodyPr anchorCtr="0" anchor="t" bIns="203775" lIns="407550" spcFirstLastPara="1" rIns="407550" wrap="square" tIns="203775">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3" name="Google Shape;73;p12"/>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2"/>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2"/>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13"/>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8" name="Google Shape;78;p13"/>
          <p:cNvSpPr txBox="1"/>
          <p:nvPr>
            <p:ph idx="1" type="body"/>
          </p:nvPr>
        </p:nvSpPr>
        <p:spPr>
          <a:xfrm rot="5400000">
            <a:off x="8340725" y="1258887"/>
            <a:ext cx="21723350" cy="34563051"/>
          </a:xfrm>
          <a:prstGeom prst="rect">
            <a:avLst/>
          </a:prstGeom>
          <a:noFill/>
          <a:ln>
            <a:noFill/>
          </a:ln>
        </p:spPr>
        <p:txBody>
          <a:bodyPr anchorCtr="0" anchor="t" bIns="203775" lIns="407550" spcFirstLastPara="1" rIns="407550" wrap="square" tIns="20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3"/>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3"/>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3"/>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14"/>
          <p:cNvSpPr txBox="1"/>
          <p:nvPr>
            <p:ph type="title"/>
          </p:nvPr>
        </p:nvSpPr>
        <p:spPr>
          <a:xfrm rot="5400000">
            <a:off x="18121313" y="11039475"/>
            <a:ext cx="28084462" cy="8640762"/>
          </a:xfrm>
          <a:prstGeom prst="rect">
            <a:avLst/>
          </a:prstGeom>
          <a:noFill/>
          <a:ln>
            <a:noFill/>
          </a:ln>
        </p:spPr>
        <p:txBody>
          <a:bodyPr anchorCtr="0" anchor="ctr" bIns="203775" lIns="407550" spcFirstLastPara="1" rIns="407550" wrap="square" tIns="203775">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4" name="Google Shape;84;p14"/>
          <p:cNvSpPr txBox="1"/>
          <p:nvPr>
            <p:ph idx="1" type="body"/>
          </p:nvPr>
        </p:nvSpPr>
        <p:spPr>
          <a:xfrm rot="5400000">
            <a:off x="763587" y="2474912"/>
            <a:ext cx="28084462" cy="25769889"/>
          </a:xfrm>
          <a:prstGeom prst="rect">
            <a:avLst/>
          </a:prstGeom>
          <a:noFill/>
          <a:ln>
            <a:noFill/>
          </a:ln>
        </p:spPr>
        <p:txBody>
          <a:bodyPr anchorCtr="0" anchor="t" bIns="203775" lIns="407550" spcFirstLastPara="1" rIns="407550" wrap="square" tIns="20377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5" name="Google Shape;85;p14"/>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4"/>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4"/>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algn="r">
              <a:spcBef>
                <a:spcPts val="0"/>
              </a:spcBef>
              <a:spcAft>
                <a:spcPts val="0"/>
              </a:spcAft>
              <a:buNone/>
              <a:defRPr sz="6400">
                <a:solidFill>
                  <a:schemeClr val="dk1"/>
                </a:solidFill>
                <a:latin typeface="Arial"/>
                <a:ea typeface="Arial"/>
                <a:cs typeface="Arial"/>
                <a:sym typeface="Arial"/>
              </a:defRPr>
            </a:lvl1pPr>
            <a:lvl2pPr indent="0" lvl="1" marL="0" algn="r">
              <a:spcBef>
                <a:spcPts val="0"/>
              </a:spcBef>
              <a:spcAft>
                <a:spcPts val="0"/>
              </a:spcAft>
              <a:buNone/>
              <a:defRPr sz="6400">
                <a:solidFill>
                  <a:schemeClr val="dk1"/>
                </a:solidFill>
                <a:latin typeface="Arial"/>
                <a:ea typeface="Arial"/>
                <a:cs typeface="Arial"/>
                <a:sym typeface="Arial"/>
              </a:defRPr>
            </a:lvl2pPr>
            <a:lvl3pPr indent="0" lvl="2" marL="0" algn="r">
              <a:spcBef>
                <a:spcPts val="0"/>
              </a:spcBef>
              <a:spcAft>
                <a:spcPts val="0"/>
              </a:spcAft>
              <a:buNone/>
              <a:defRPr sz="6400">
                <a:solidFill>
                  <a:schemeClr val="dk1"/>
                </a:solidFill>
                <a:latin typeface="Arial"/>
                <a:ea typeface="Arial"/>
                <a:cs typeface="Arial"/>
                <a:sym typeface="Arial"/>
              </a:defRPr>
            </a:lvl3pPr>
            <a:lvl4pPr indent="0" lvl="3" marL="0" algn="r">
              <a:spcBef>
                <a:spcPts val="0"/>
              </a:spcBef>
              <a:spcAft>
                <a:spcPts val="0"/>
              </a:spcAft>
              <a:buNone/>
              <a:defRPr sz="6400">
                <a:solidFill>
                  <a:schemeClr val="dk1"/>
                </a:solidFill>
                <a:latin typeface="Arial"/>
                <a:ea typeface="Arial"/>
                <a:cs typeface="Arial"/>
                <a:sym typeface="Arial"/>
              </a:defRPr>
            </a:lvl4pPr>
            <a:lvl5pPr indent="0" lvl="4" marL="0" algn="r">
              <a:spcBef>
                <a:spcPts val="0"/>
              </a:spcBef>
              <a:spcAft>
                <a:spcPts val="0"/>
              </a:spcAft>
              <a:buNone/>
              <a:defRPr sz="6400">
                <a:solidFill>
                  <a:schemeClr val="dk1"/>
                </a:solidFill>
                <a:latin typeface="Arial"/>
                <a:ea typeface="Arial"/>
                <a:cs typeface="Arial"/>
                <a:sym typeface="Arial"/>
              </a:defRPr>
            </a:lvl5pPr>
            <a:lvl6pPr indent="0" lvl="5" marL="0" algn="r">
              <a:spcBef>
                <a:spcPts val="0"/>
              </a:spcBef>
              <a:spcAft>
                <a:spcPts val="0"/>
              </a:spcAft>
              <a:buNone/>
              <a:defRPr sz="6400">
                <a:solidFill>
                  <a:schemeClr val="dk1"/>
                </a:solidFill>
                <a:latin typeface="Arial"/>
                <a:ea typeface="Arial"/>
                <a:cs typeface="Arial"/>
                <a:sym typeface="Arial"/>
              </a:defRPr>
            </a:lvl6pPr>
            <a:lvl7pPr indent="0" lvl="6" marL="0" algn="r">
              <a:spcBef>
                <a:spcPts val="0"/>
              </a:spcBef>
              <a:spcAft>
                <a:spcPts val="0"/>
              </a:spcAft>
              <a:buNone/>
              <a:defRPr sz="6400">
                <a:solidFill>
                  <a:schemeClr val="dk1"/>
                </a:solidFill>
                <a:latin typeface="Arial"/>
                <a:ea typeface="Arial"/>
                <a:cs typeface="Arial"/>
                <a:sym typeface="Arial"/>
              </a:defRPr>
            </a:lvl7pPr>
            <a:lvl8pPr indent="0" lvl="7" marL="0" algn="r">
              <a:spcBef>
                <a:spcPts val="0"/>
              </a:spcBef>
              <a:spcAft>
                <a:spcPts val="0"/>
              </a:spcAft>
              <a:buNone/>
              <a:defRPr sz="6400">
                <a:solidFill>
                  <a:schemeClr val="dk1"/>
                </a:solidFill>
                <a:latin typeface="Arial"/>
                <a:ea typeface="Arial"/>
                <a:cs typeface="Arial"/>
                <a:sym typeface="Arial"/>
              </a:defRPr>
            </a:lvl8pPr>
            <a:lvl9pPr indent="0" lvl="8" marL="0" algn="r">
              <a:spcBef>
                <a:spcPts val="0"/>
              </a:spcBef>
              <a:spcAft>
                <a:spcPts val="0"/>
              </a:spcAft>
              <a:buNone/>
              <a:defRPr sz="6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1920875" y="1317625"/>
            <a:ext cx="34563051" cy="5486400"/>
          </a:xfrm>
          <a:prstGeom prst="rect">
            <a:avLst/>
          </a:prstGeom>
          <a:noFill/>
          <a:ln>
            <a:noFill/>
          </a:ln>
        </p:spPr>
        <p:txBody>
          <a:bodyPr anchorCtr="0" anchor="ctr" bIns="203775" lIns="407550" spcFirstLastPara="1" rIns="407550" wrap="square" tIns="203775">
            <a:noAutofit/>
          </a:bodyPr>
          <a:lstStyle>
            <a:lvl1pPr lvl="0"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19600" u="none" cap="none" strike="noStrike">
                <a:solidFill>
                  <a:schemeClr val="dk2"/>
                </a:solidFill>
                <a:latin typeface="Arial"/>
                <a:ea typeface="Arial"/>
                <a:cs typeface="Arial"/>
                <a:sym typeface="Arial"/>
              </a:defRPr>
            </a:lvl9pPr>
          </a:lstStyle>
          <a:p/>
        </p:txBody>
      </p:sp>
      <p:sp>
        <p:nvSpPr>
          <p:cNvPr id="7" name="Google Shape;7;p2"/>
          <p:cNvSpPr txBox="1"/>
          <p:nvPr>
            <p:ph idx="1" type="body"/>
          </p:nvPr>
        </p:nvSpPr>
        <p:spPr>
          <a:xfrm>
            <a:off x="1920875" y="7678738"/>
            <a:ext cx="34563051" cy="21723350"/>
          </a:xfrm>
          <a:prstGeom prst="rect">
            <a:avLst/>
          </a:prstGeom>
          <a:noFill/>
          <a:ln>
            <a:noFill/>
          </a:ln>
        </p:spPr>
        <p:txBody>
          <a:bodyPr anchorCtr="0" anchor="t" bIns="203775" lIns="407550" spcFirstLastPara="1" rIns="407550" wrap="square" tIns="203775">
            <a:noAutofit/>
          </a:bodyPr>
          <a:lstStyle>
            <a:lvl1pPr indent="-1143000" lvl="0" marL="457200" marR="0" rtl="0" algn="l">
              <a:spcBef>
                <a:spcPts val="2880"/>
              </a:spcBef>
              <a:spcAft>
                <a:spcPts val="0"/>
              </a:spcAft>
              <a:buClr>
                <a:schemeClr val="dk1"/>
              </a:buClr>
              <a:buSzPts val="14400"/>
              <a:buFont typeface="Arial"/>
              <a:buChar char="•"/>
              <a:defRPr b="0" i="0" sz="14400" u="none" cap="none" strike="noStrike">
                <a:solidFill>
                  <a:schemeClr val="dk1"/>
                </a:solidFill>
                <a:latin typeface="Arial"/>
                <a:ea typeface="Arial"/>
                <a:cs typeface="Arial"/>
                <a:sym typeface="Arial"/>
              </a:defRPr>
            </a:lvl1pPr>
            <a:lvl2pPr indent="-1016000" lvl="1" marL="914400" marR="0" rtl="0" algn="l">
              <a:spcBef>
                <a:spcPts val="2480"/>
              </a:spcBef>
              <a:spcAft>
                <a:spcPts val="0"/>
              </a:spcAft>
              <a:buClr>
                <a:schemeClr val="dk1"/>
              </a:buClr>
              <a:buSzPts val="12400"/>
              <a:buFont typeface="Arial"/>
              <a:buChar char="–"/>
              <a:defRPr b="0" i="0" sz="12400" u="none" cap="none" strike="noStrike">
                <a:solidFill>
                  <a:schemeClr val="dk1"/>
                </a:solidFill>
                <a:latin typeface="Arial"/>
                <a:ea typeface="Arial"/>
                <a:cs typeface="Arial"/>
                <a:sym typeface="Arial"/>
              </a:defRPr>
            </a:lvl2pPr>
            <a:lvl3pPr indent="-914400" lvl="2" marL="1371600" marR="0" rtl="0" algn="l">
              <a:spcBef>
                <a:spcPts val="2160"/>
              </a:spcBef>
              <a:spcAft>
                <a:spcPts val="0"/>
              </a:spcAft>
              <a:buClr>
                <a:schemeClr val="dk1"/>
              </a:buClr>
              <a:buSzPts val="10800"/>
              <a:buFont typeface="Arial"/>
              <a:buChar char="•"/>
              <a:defRPr b="0" i="0" sz="10800" u="none" cap="none" strike="noStrike">
                <a:solidFill>
                  <a:schemeClr val="dk1"/>
                </a:solidFill>
                <a:latin typeface="Arial"/>
                <a:ea typeface="Arial"/>
                <a:cs typeface="Arial"/>
                <a:sym typeface="Arial"/>
              </a:defRPr>
            </a:lvl3pPr>
            <a:lvl4pPr indent="-787400" lvl="3" marL="1828800" marR="0" rtl="0" algn="l">
              <a:spcBef>
                <a:spcPts val="1760"/>
              </a:spcBef>
              <a:spcAft>
                <a:spcPts val="0"/>
              </a:spcAft>
              <a:buClr>
                <a:schemeClr val="dk1"/>
              </a:buClr>
              <a:buSzPts val="8800"/>
              <a:buFont typeface="Arial"/>
              <a:buChar char="–"/>
              <a:defRPr b="0" i="0" sz="8800" u="none" cap="none" strike="noStrike">
                <a:solidFill>
                  <a:schemeClr val="dk1"/>
                </a:solidFill>
                <a:latin typeface="Arial"/>
                <a:ea typeface="Arial"/>
                <a:cs typeface="Arial"/>
                <a:sym typeface="Arial"/>
              </a:defRPr>
            </a:lvl4pPr>
            <a:lvl5pPr indent="-787400" lvl="4" marL="2286000" marR="0" rtl="0" algn="l">
              <a:spcBef>
                <a:spcPts val="1760"/>
              </a:spcBef>
              <a:spcAft>
                <a:spcPts val="0"/>
              </a:spcAft>
              <a:buClr>
                <a:schemeClr val="dk1"/>
              </a:buClr>
              <a:buSzPts val="8800"/>
              <a:buFont typeface="Arial"/>
              <a:buChar char="»"/>
              <a:defRPr b="0" i="0" sz="8800" u="none" cap="none" strike="noStrike">
                <a:solidFill>
                  <a:schemeClr val="dk1"/>
                </a:solidFill>
                <a:latin typeface="Arial"/>
                <a:ea typeface="Arial"/>
                <a:cs typeface="Arial"/>
                <a:sym typeface="Arial"/>
              </a:defRPr>
            </a:lvl5pPr>
            <a:lvl6pPr indent="-787400" lvl="5" marL="2743200" marR="0" rtl="0" algn="l">
              <a:spcBef>
                <a:spcPts val="1760"/>
              </a:spcBef>
              <a:spcAft>
                <a:spcPts val="0"/>
              </a:spcAft>
              <a:buClr>
                <a:schemeClr val="dk1"/>
              </a:buClr>
              <a:buSzPts val="8800"/>
              <a:buFont typeface="Arial"/>
              <a:buChar char="»"/>
              <a:defRPr b="0" i="0" sz="8800" u="none" cap="none" strike="noStrike">
                <a:solidFill>
                  <a:schemeClr val="dk1"/>
                </a:solidFill>
                <a:latin typeface="Arial"/>
                <a:ea typeface="Arial"/>
                <a:cs typeface="Arial"/>
                <a:sym typeface="Arial"/>
              </a:defRPr>
            </a:lvl6pPr>
            <a:lvl7pPr indent="-787400" lvl="6" marL="3200400" marR="0" rtl="0" algn="l">
              <a:spcBef>
                <a:spcPts val="1760"/>
              </a:spcBef>
              <a:spcAft>
                <a:spcPts val="0"/>
              </a:spcAft>
              <a:buClr>
                <a:schemeClr val="dk1"/>
              </a:buClr>
              <a:buSzPts val="8800"/>
              <a:buFont typeface="Arial"/>
              <a:buChar char="»"/>
              <a:defRPr b="0" i="0" sz="8800" u="none" cap="none" strike="noStrike">
                <a:solidFill>
                  <a:schemeClr val="dk1"/>
                </a:solidFill>
                <a:latin typeface="Arial"/>
                <a:ea typeface="Arial"/>
                <a:cs typeface="Arial"/>
                <a:sym typeface="Arial"/>
              </a:defRPr>
            </a:lvl7pPr>
            <a:lvl8pPr indent="-787400" lvl="7" marL="3657600" marR="0" rtl="0" algn="l">
              <a:spcBef>
                <a:spcPts val="1760"/>
              </a:spcBef>
              <a:spcAft>
                <a:spcPts val="0"/>
              </a:spcAft>
              <a:buClr>
                <a:schemeClr val="dk1"/>
              </a:buClr>
              <a:buSzPts val="8800"/>
              <a:buFont typeface="Arial"/>
              <a:buChar char="»"/>
              <a:defRPr b="0" i="0" sz="8800" u="none" cap="none" strike="noStrike">
                <a:solidFill>
                  <a:schemeClr val="dk1"/>
                </a:solidFill>
                <a:latin typeface="Arial"/>
                <a:ea typeface="Arial"/>
                <a:cs typeface="Arial"/>
                <a:sym typeface="Arial"/>
              </a:defRPr>
            </a:lvl8pPr>
            <a:lvl9pPr indent="-787400" lvl="8" marL="4114800" marR="0" rtl="0" algn="l">
              <a:spcBef>
                <a:spcPts val="1760"/>
              </a:spcBef>
              <a:spcAft>
                <a:spcPts val="0"/>
              </a:spcAft>
              <a:buClr>
                <a:schemeClr val="dk1"/>
              </a:buClr>
              <a:buSzPts val="8800"/>
              <a:buFont typeface="Arial"/>
              <a:buChar char="»"/>
              <a:defRPr b="0" i="0" sz="8800" u="none" cap="none" strike="noStrike">
                <a:solidFill>
                  <a:schemeClr val="dk1"/>
                </a:solidFill>
                <a:latin typeface="Arial"/>
                <a:ea typeface="Arial"/>
                <a:cs typeface="Arial"/>
                <a:sym typeface="Arial"/>
              </a:defRPr>
            </a:lvl9pPr>
          </a:lstStyle>
          <a:p/>
        </p:txBody>
      </p:sp>
      <p:sp>
        <p:nvSpPr>
          <p:cNvPr id="8" name="Google Shape;8;p2"/>
          <p:cNvSpPr txBox="1"/>
          <p:nvPr>
            <p:ph idx="10" type="dt"/>
          </p:nvPr>
        </p:nvSpPr>
        <p:spPr>
          <a:xfrm>
            <a:off x="1920875" y="29973588"/>
            <a:ext cx="8959850" cy="2286000"/>
          </a:xfrm>
          <a:prstGeom prst="rect">
            <a:avLst/>
          </a:prstGeom>
          <a:noFill/>
          <a:ln>
            <a:noFill/>
          </a:ln>
        </p:spPr>
        <p:txBody>
          <a:bodyPr anchorCtr="0" anchor="t" bIns="203775" lIns="407550" spcFirstLastPara="1" rIns="407550" wrap="square" tIns="203775">
            <a:noAutofit/>
          </a:bodyPr>
          <a:lstStyle>
            <a:lvl1pPr lvl="0" marR="0" rtl="0" algn="l">
              <a:spcBef>
                <a:spcPts val="0"/>
              </a:spcBef>
              <a:spcAft>
                <a:spcPts val="0"/>
              </a:spcAft>
              <a:buSzPts val="1400"/>
              <a:buNone/>
              <a:defRPr b="0" i="0" sz="6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0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13122275" y="29973588"/>
            <a:ext cx="12160250" cy="2286000"/>
          </a:xfrm>
          <a:prstGeom prst="rect">
            <a:avLst/>
          </a:prstGeom>
          <a:noFill/>
          <a:ln>
            <a:noFill/>
          </a:ln>
        </p:spPr>
        <p:txBody>
          <a:bodyPr anchorCtr="0" anchor="t" bIns="203775" lIns="407550" spcFirstLastPara="1" rIns="407550" wrap="square" tIns="203775">
            <a:noAutofit/>
          </a:bodyPr>
          <a:lstStyle>
            <a:lvl1pPr lvl="0" marR="0" rtl="0" algn="ctr">
              <a:spcBef>
                <a:spcPts val="0"/>
              </a:spcBef>
              <a:spcAft>
                <a:spcPts val="0"/>
              </a:spcAft>
              <a:buSzPts val="1400"/>
              <a:buNone/>
              <a:defRPr b="0" i="0" sz="6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80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80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80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80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80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80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80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80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27524075" y="29973588"/>
            <a:ext cx="8959850" cy="2286000"/>
          </a:xfrm>
          <a:prstGeom prst="rect">
            <a:avLst/>
          </a:prstGeom>
          <a:noFill/>
          <a:ln>
            <a:noFill/>
          </a:ln>
        </p:spPr>
        <p:txBody>
          <a:bodyPr anchorCtr="0" anchor="t" bIns="203775" lIns="407550" spcFirstLastPara="1" rIns="407550" wrap="square" tIns="203775">
            <a:noAutofit/>
          </a:bodyPr>
          <a:lstStyle>
            <a:lvl1pPr indent="0" lvl="0" marL="0" marR="0" rtl="0" algn="r">
              <a:spcBef>
                <a:spcPts val="0"/>
              </a:spcBef>
              <a:spcAft>
                <a:spcPts val="0"/>
              </a:spcAft>
              <a:buNone/>
              <a:defRPr b="0" i="0" sz="6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6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6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6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6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6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6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6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6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8.png"/><Relationship Id="rId13" Type="http://schemas.openxmlformats.org/officeDocument/2006/relationships/image" Target="../media/image7.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5.jpg"/><Relationship Id="rId9" Type="http://schemas.openxmlformats.org/officeDocument/2006/relationships/image" Target="../media/image3.png"/><Relationship Id="rId1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2.jpg"/><Relationship Id="rId7" Type="http://schemas.openxmlformats.org/officeDocument/2006/relationships/image" Target="../media/image10.png"/><Relationship Id="rId8"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nvSpPr>
        <p:spPr>
          <a:xfrm>
            <a:off x="24335925" y="16921175"/>
            <a:ext cx="13458000" cy="2401200"/>
          </a:xfrm>
          <a:prstGeom prst="rect">
            <a:avLst/>
          </a:prstGeom>
          <a:noFill/>
          <a:ln>
            <a:noFill/>
          </a:ln>
        </p:spPr>
        <p:txBody>
          <a:bodyPr anchorCtr="0" anchor="t" bIns="91425" lIns="91425" spcFirstLastPara="1" rIns="91425" wrap="square" tIns="91425">
            <a:spAutoFit/>
          </a:bodyPr>
          <a:lstStyle/>
          <a:p>
            <a:pPr indent="0" lvl="0" marL="0" rtl="0" algn="just">
              <a:spcBef>
                <a:spcPts val="360"/>
              </a:spcBef>
              <a:spcAft>
                <a:spcPts val="0"/>
              </a:spcAft>
              <a:buNone/>
            </a:pPr>
            <a:r>
              <a:rPr lang="en-US" sz="2400">
                <a:solidFill>
                  <a:schemeClr val="dk1"/>
                </a:solidFill>
              </a:rPr>
              <a:t>Forced applied to Z and X axis are sensed by load cells with capacity of 1000kgf and 300kgf respectively, and </a:t>
            </a:r>
            <a:r>
              <a:rPr lang="en-US" sz="2400">
                <a:solidFill>
                  <a:schemeClr val="dk1"/>
                </a:solidFill>
              </a:rPr>
              <a:t>sensitivity of 2mV/V full scale.</a:t>
            </a:r>
            <a:r>
              <a:rPr lang="en-US" sz="2400">
                <a:solidFill>
                  <a:schemeClr val="dk1"/>
                </a:solidFill>
              </a:rPr>
              <a:t> Output of load cells are amplified by a pair of instrumentation amplifiers with gain set to 185, producing output of 5.3N/mV on Z and 1.6N/mV on X. Amplified voltage is then sampled by a 16-bit ADC. A live-plot interface with zeroing capability is implemented in MATLAB. Acquired data is </a:t>
            </a:r>
            <a:r>
              <a:rPr lang="en-US" sz="2400">
                <a:solidFill>
                  <a:schemeClr val="dk1"/>
                </a:solidFill>
              </a:rPr>
              <a:t>averaged</a:t>
            </a:r>
            <a:r>
              <a:rPr lang="en-US" sz="2400">
                <a:solidFill>
                  <a:schemeClr val="dk1"/>
                </a:solidFill>
              </a:rPr>
              <a:t> with a 200ms sliding window before plotting. The force measurement accuracies are listed in the FR table.</a:t>
            </a:r>
            <a:endParaRPr sz="2400">
              <a:solidFill>
                <a:schemeClr val="dk1"/>
              </a:solidFill>
            </a:endParaRPr>
          </a:p>
        </p:txBody>
      </p:sp>
      <p:pic>
        <p:nvPicPr>
          <p:cNvPr id="93" name="Google Shape;93;p1"/>
          <p:cNvPicPr preferRelativeResize="0"/>
          <p:nvPr/>
        </p:nvPicPr>
        <p:blipFill rotWithShape="1">
          <a:blip r:embed="rId3">
            <a:alphaModFix/>
          </a:blip>
          <a:srcRect b="0" l="5446" r="0" t="0"/>
          <a:stretch/>
        </p:blipFill>
        <p:spPr>
          <a:xfrm>
            <a:off x="12093175" y="5029075"/>
            <a:ext cx="11632724" cy="25323351"/>
          </a:xfrm>
          <a:prstGeom prst="rect">
            <a:avLst/>
          </a:prstGeom>
          <a:noFill/>
          <a:ln>
            <a:noFill/>
          </a:ln>
        </p:spPr>
      </p:pic>
      <p:pic>
        <p:nvPicPr>
          <p:cNvPr id="94" name="Google Shape;94;p1"/>
          <p:cNvPicPr preferRelativeResize="0"/>
          <p:nvPr/>
        </p:nvPicPr>
        <p:blipFill rotWithShape="1">
          <a:blip r:embed="rId4">
            <a:alphaModFix/>
          </a:blip>
          <a:srcRect b="38234" l="9212" r="2883" t="16225"/>
          <a:stretch/>
        </p:blipFill>
        <p:spPr>
          <a:xfrm>
            <a:off x="27727150" y="13279287"/>
            <a:ext cx="9327601" cy="3687801"/>
          </a:xfrm>
          <a:prstGeom prst="rect">
            <a:avLst/>
          </a:prstGeom>
          <a:noFill/>
          <a:ln>
            <a:noFill/>
          </a:ln>
        </p:spPr>
      </p:pic>
      <p:pic>
        <p:nvPicPr>
          <p:cNvPr id="95" name="Google Shape;95;p1"/>
          <p:cNvPicPr preferRelativeResize="0"/>
          <p:nvPr/>
        </p:nvPicPr>
        <p:blipFill>
          <a:blip r:embed="rId5">
            <a:alphaModFix/>
          </a:blip>
          <a:stretch>
            <a:fillRect/>
          </a:stretch>
        </p:blipFill>
        <p:spPr>
          <a:xfrm>
            <a:off x="668201" y="17274574"/>
            <a:ext cx="9714203" cy="2629700"/>
          </a:xfrm>
          <a:prstGeom prst="rect">
            <a:avLst/>
          </a:prstGeom>
          <a:noFill/>
          <a:ln>
            <a:noFill/>
          </a:ln>
        </p:spPr>
      </p:pic>
      <p:sp>
        <p:nvSpPr>
          <p:cNvPr id="96" name="Google Shape;96;p1"/>
          <p:cNvSpPr txBox="1"/>
          <p:nvPr/>
        </p:nvSpPr>
        <p:spPr>
          <a:xfrm>
            <a:off x="760413" y="369888"/>
            <a:ext cx="36804600" cy="3192600"/>
          </a:xfrm>
          <a:prstGeom prst="rect">
            <a:avLst/>
          </a:prstGeom>
          <a:solidFill>
            <a:schemeClr val="lt1"/>
          </a:solidFill>
          <a:ln cap="flat" cmpd="sng" w="76200">
            <a:solidFill>
              <a:srgbClr val="800000"/>
            </a:solidFill>
            <a:prstDash val="solid"/>
            <a:miter lim="800000"/>
            <a:headEnd len="sm" w="sm" type="none"/>
            <a:tailEnd len="sm" w="sm" type="none"/>
          </a:ln>
        </p:spPr>
        <p:txBody>
          <a:bodyPr anchorCtr="0" anchor="t" bIns="203775" lIns="407550" spcFirstLastPara="1" rIns="407550" wrap="square" tIns="203775">
            <a:spAutoFit/>
          </a:bodyPr>
          <a:lstStyle/>
          <a:p>
            <a:pPr indent="0" lvl="0" marL="0" marR="0" rtl="0" algn="ctr">
              <a:spcBef>
                <a:spcPts val="0"/>
              </a:spcBef>
              <a:spcAft>
                <a:spcPts val="0"/>
              </a:spcAft>
              <a:buNone/>
            </a:pPr>
            <a:r>
              <a:rPr b="1" lang="en-US" sz="9200">
                <a:solidFill>
                  <a:srgbClr val="800000"/>
                </a:solidFill>
              </a:rPr>
              <a:t>Two-Axis </a:t>
            </a:r>
            <a:r>
              <a:rPr b="1" lang="en-US" sz="9200">
                <a:solidFill>
                  <a:srgbClr val="800000"/>
                </a:solidFill>
              </a:rPr>
              <a:t>Stiffness </a:t>
            </a:r>
            <a:r>
              <a:rPr b="1" lang="en-US" sz="9200">
                <a:solidFill>
                  <a:srgbClr val="800000"/>
                </a:solidFill>
              </a:rPr>
              <a:t>Flexure Tester</a:t>
            </a:r>
            <a:endParaRPr/>
          </a:p>
          <a:p>
            <a:pPr indent="0" lvl="0" marL="0" marR="0" rtl="0" algn="ctr">
              <a:lnSpc>
                <a:spcPct val="50000"/>
              </a:lnSpc>
              <a:spcBef>
                <a:spcPts val="2400"/>
              </a:spcBef>
              <a:spcAft>
                <a:spcPts val="0"/>
              </a:spcAft>
              <a:buNone/>
            </a:pPr>
            <a:r>
              <a:rPr b="1" lang="en-US" sz="4800">
                <a:solidFill>
                  <a:schemeClr val="dk1"/>
                </a:solidFill>
              </a:rPr>
              <a:t>FACTuators: Dylan Fife, Qiyun (Q) Gao, Ben Hamilton, Zain Karsan, ZhiYi (Z) Liang</a:t>
            </a:r>
            <a:endParaRPr/>
          </a:p>
          <a:p>
            <a:pPr indent="0" lvl="0" marL="0" marR="0" rtl="0" algn="ctr">
              <a:lnSpc>
                <a:spcPct val="50000"/>
              </a:lnSpc>
              <a:spcBef>
                <a:spcPts val="2960"/>
              </a:spcBef>
              <a:spcAft>
                <a:spcPts val="0"/>
              </a:spcAft>
              <a:buNone/>
            </a:pPr>
            <a:r>
              <a:rPr lang="en-US" sz="4000">
                <a:solidFill>
                  <a:schemeClr val="dk1"/>
                </a:solidFill>
              </a:rPr>
              <a:t>2.77 Precision Product Design </a:t>
            </a:r>
            <a:r>
              <a:rPr lang="en-US" sz="4000">
                <a:solidFill>
                  <a:schemeClr val="dk1"/>
                </a:solidFill>
              </a:rPr>
              <a:t>(Fall 2021)</a:t>
            </a:r>
            <a:endParaRPr/>
          </a:p>
        </p:txBody>
      </p:sp>
      <p:sp>
        <p:nvSpPr>
          <p:cNvPr id="97" name="Google Shape;97;p1"/>
          <p:cNvSpPr/>
          <p:nvPr/>
        </p:nvSpPr>
        <p:spPr>
          <a:xfrm>
            <a:off x="482851" y="3932400"/>
            <a:ext cx="543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Project Objectives</a:t>
            </a:r>
            <a:endParaRPr/>
          </a:p>
        </p:txBody>
      </p:sp>
      <p:sp>
        <p:nvSpPr>
          <p:cNvPr id="98" name="Google Shape;98;p1"/>
          <p:cNvSpPr/>
          <p:nvPr/>
        </p:nvSpPr>
        <p:spPr>
          <a:xfrm>
            <a:off x="24488319" y="19335675"/>
            <a:ext cx="50874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Characterizations</a:t>
            </a:r>
            <a:endParaRPr/>
          </a:p>
        </p:txBody>
      </p:sp>
      <p:sp>
        <p:nvSpPr>
          <p:cNvPr id="99" name="Google Shape;99;p1"/>
          <p:cNvSpPr/>
          <p:nvPr/>
        </p:nvSpPr>
        <p:spPr>
          <a:xfrm>
            <a:off x="24316482" y="8348750"/>
            <a:ext cx="543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Metrology Frame</a:t>
            </a:r>
            <a:endParaRPr/>
          </a:p>
        </p:txBody>
      </p:sp>
      <p:sp>
        <p:nvSpPr>
          <p:cNvPr id="100" name="Google Shape;100;p1"/>
          <p:cNvSpPr/>
          <p:nvPr/>
        </p:nvSpPr>
        <p:spPr>
          <a:xfrm>
            <a:off x="0" y="0"/>
            <a:ext cx="38404801"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8000">
              <a:solidFill>
                <a:schemeClr val="dk1"/>
              </a:solidFill>
              <a:latin typeface="Arial"/>
              <a:ea typeface="Arial"/>
              <a:cs typeface="Arial"/>
              <a:sym typeface="Arial"/>
            </a:endParaRPr>
          </a:p>
        </p:txBody>
      </p:sp>
      <p:sp>
        <p:nvSpPr>
          <p:cNvPr id="101" name="Google Shape;101;p1"/>
          <p:cNvSpPr txBox="1"/>
          <p:nvPr/>
        </p:nvSpPr>
        <p:spPr>
          <a:xfrm>
            <a:off x="28916959" y="32169466"/>
            <a:ext cx="9183900" cy="5850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3200">
                <a:solidFill>
                  <a:schemeClr val="dk1"/>
                </a:solidFill>
              </a:rPr>
              <a:t>December 8th, 2021</a:t>
            </a:r>
            <a:endParaRPr/>
          </a:p>
        </p:txBody>
      </p:sp>
      <p:sp>
        <p:nvSpPr>
          <p:cNvPr id="102" name="Google Shape;102;p1"/>
          <p:cNvSpPr/>
          <p:nvPr/>
        </p:nvSpPr>
        <p:spPr>
          <a:xfrm>
            <a:off x="-7938" y="16946563"/>
            <a:ext cx="184151" cy="39687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2000">
              <a:solidFill>
                <a:schemeClr val="dk1"/>
              </a:solidFill>
              <a:latin typeface="Arial"/>
              <a:ea typeface="Arial"/>
              <a:cs typeface="Arial"/>
              <a:sym typeface="Arial"/>
            </a:endParaRPr>
          </a:p>
        </p:txBody>
      </p:sp>
      <p:sp>
        <p:nvSpPr>
          <p:cNvPr id="103" name="Google Shape;103;p1"/>
          <p:cNvSpPr/>
          <p:nvPr/>
        </p:nvSpPr>
        <p:spPr>
          <a:xfrm>
            <a:off x="24316483" y="4116163"/>
            <a:ext cx="543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Transmission</a:t>
            </a:r>
            <a:endParaRPr/>
          </a:p>
        </p:txBody>
      </p:sp>
      <p:cxnSp>
        <p:nvCxnSpPr>
          <p:cNvPr id="104" name="Google Shape;104;p1"/>
          <p:cNvCxnSpPr/>
          <p:nvPr/>
        </p:nvCxnSpPr>
        <p:spPr>
          <a:xfrm rot="10800000">
            <a:off x="11483150" y="3962275"/>
            <a:ext cx="0" cy="28491300"/>
          </a:xfrm>
          <a:prstGeom prst="straightConnector1">
            <a:avLst/>
          </a:prstGeom>
          <a:noFill/>
          <a:ln cap="flat" cmpd="sng" w="76200">
            <a:solidFill>
              <a:srgbClr val="800000"/>
            </a:solidFill>
            <a:prstDash val="solid"/>
            <a:round/>
            <a:headEnd len="med" w="med" type="none"/>
            <a:tailEnd len="med" w="med" type="none"/>
          </a:ln>
        </p:spPr>
      </p:cxnSp>
      <p:pic>
        <p:nvPicPr>
          <p:cNvPr descr="s6_r_g" id="105" name="Google Shape;105;p1"/>
          <p:cNvPicPr preferRelativeResize="0"/>
          <p:nvPr/>
        </p:nvPicPr>
        <p:blipFill rotWithShape="1">
          <a:blip r:embed="rId6">
            <a:alphaModFix/>
          </a:blip>
          <a:srcRect b="0" l="0" r="53934" t="0"/>
          <a:stretch/>
        </p:blipFill>
        <p:spPr>
          <a:xfrm>
            <a:off x="34004250" y="916788"/>
            <a:ext cx="3262301" cy="2179625"/>
          </a:xfrm>
          <a:prstGeom prst="rect">
            <a:avLst/>
          </a:prstGeom>
          <a:noFill/>
          <a:ln>
            <a:noFill/>
          </a:ln>
        </p:spPr>
      </p:pic>
      <p:sp>
        <p:nvSpPr>
          <p:cNvPr id="106" name="Google Shape;106;p1"/>
          <p:cNvSpPr/>
          <p:nvPr/>
        </p:nvSpPr>
        <p:spPr>
          <a:xfrm>
            <a:off x="11940775" y="30683713"/>
            <a:ext cx="4705200" cy="682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3600">
                <a:solidFill>
                  <a:schemeClr val="lt1"/>
                </a:solidFill>
                <a:latin typeface="Arial"/>
                <a:ea typeface="Arial"/>
                <a:cs typeface="Arial"/>
                <a:sym typeface="Arial"/>
              </a:rPr>
              <a:t>Acknowledgements</a:t>
            </a:r>
            <a:endParaRPr/>
          </a:p>
        </p:txBody>
      </p:sp>
      <p:pic>
        <p:nvPicPr>
          <p:cNvPr id="107" name="Google Shape;107;p1"/>
          <p:cNvPicPr preferRelativeResize="0"/>
          <p:nvPr/>
        </p:nvPicPr>
        <p:blipFill>
          <a:blip r:embed="rId7">
            <a:alphaModFix/>
          </a:blip>
          <a:stretch>
            <a:fillRect/>
          </a:stretch>
        </p:blipFill>
        <p:spPr>
          <a:xfrm>
            <a:off x="1290651" y="691761"/>
            <a:ext cx="3357592" cy="2629676"/>
          </a:xfrm>
          <a:prstGeom prst="rect">
            <a:avLst/>
          </a:prstGeom>
          <a:noFill/>
          <a:ln>
            <a:noFill/>
          </a:ln>
        </p:spPr>
      </p:pic>
      <p:sp>
        <p:nvSpPr>
          <p:cNvPr id="108" name="Google Shape;108;p1"/>
          <p:cNvSpPr/>
          <p:nvPr/>
        </p:nvSpPr>
        <p:spPr>
          <a:xfrm>
            <a:off x="482851" y="8066663"/>
            <a:ext cx="543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High Level FR</a:t>
            </a:r>
            <a:endParaRPr/>
          </a:p>
        </p:txBody>
      </p:sp>
      <p:sp>
        <p:nvSpPr>
          <p:cNvPr id="109" name="Google Shape;109;p1"/>
          <p:cNvSpPr txBox="1"/>
          <p:nvPr/>
        </p:nvSpPr>
        <p:spPr>
          <a:xfrm>
            <a:off x="407300" y="4861913"/>
            <a:ext cx="102360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t>This machine is designed to measure the 2-dimensional stiffness matrix of a flexure specimen. It is designed to test flexures with stiffness ranging between 10</a:t>
            </a:r>
            <a:r>
              <a:rPr baseline="30000" lang="en-US" sz="2600"/>
              <a:t>-1</a:t>
            </a:r>
            <a:r>
              <a:rPr lang="en-US" sz="2600"/>
              <a:t> to 10</a:t>
            </a:r>
            <a:r>
              <a:rPr baseline="30000" lang="en-US" sz="2600"/>
              <a:t>1</a:t>
            </a:r>
            <a:r>
              <a:rPr lang="en-US" sz="2600"/>
              <a:t> N/um in the stiff direction </a:t>
            </a:r>
            <a:r>
              <a:rPr lang="en-US" sz="2600">
                <a:solidFill>
                  <a:schemeClr val="dk1"/>
                </a:solidFill>
              </a:rPr>
              <a:t>(Z)</a:t>
            </a:r>
            <a:r>
              <a:rPr lang="en-US" sz="2600"/>
              <a:t> and 10</a:t>
            </a:r>
            <a:r>
              <a:rPr baseline="30000" lang="en-US" sz="2600"/>
              <a:t>-2</a:t>
            </a:r>
            <a:r>
              <a:rPr lang="en-US" sz="2600"/>
              <a:t> to 10</a:t>
            </a:r>
            <a:r>
              <a:rPr baseline="30000" lang="en-US" sz="2600"/>
              <a:t>0</a:t>
            </a:r>
            <a:r>
              <a:rPr lang="en-US" sz="2600"/>
              <a:t> N/um in the compliant direction (X). The machine is designed to be capable of delivering up to 10 kN force with a maximum travel of 6.5mm. The fabricated machine is capable of meeting all the functional requirements listed below.</a:t>
            </a:r>
            <a:endParaRPr sz="2600"/>
          </a:p>
        </p:txBody>
      </p:sp>
      <p:sp>
        <p:nvSpPr>
          <p:cNvPr id="110" name="Google Shape;110;p1"/>
          <p:cNvSpPr/>
          <p:nvPr/>
        </p:nvSpPr>
        <p:spPr>
          <a:xfrm>
            <a:off x="12299851" y="4013188"/>
            <a:ext cx="543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Machine Layout</a:t>
            </a:r>
            <a:endParaRPr/>
          </a:p>
        </p:txBody>
      </p:sp>
      <p:sp>
        <p:nvSpPr>
          <p:cNvPr id="111" name="Google Shape;111;p1"/>
          <p:cNvSpPr txBox="1"/>
          <p:nvPr/>
        </p:nvSpPr>
        <p:spPr>
          <a:xfrm>
            <a:off x="789475" y="19652450"/>
            <a:ext cx="93276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t>Metrology frame enables </a:t>
            </a:r>
            <a:r>
              <a:rPr lang="en-US" sz="2600">
                <a:solidFill>
                  <a:schemeClr val="dk1"/>
                </a:solidFill>
              </a:rPr>
              <a:t>direct </a:t>
            </a:r>
            <a:r>
              <a:rPr lang="en-US" sz="2600"/>
              <a:t>measurements of F</a:t>
            </a:r>
            <a:r>
              <a:rPr baseline="-25000" lang="en-US" sz="2600"/>
              <a:t>x</a:t>
            </a:r>
            <a:r>
              <a:rPr lang="en-US" sz="2600"/>
              <a:t>, F</a:t>
            </a:r>
            <a:r>
              <a:rPr baseline="-25000" lang="en-US" sz="2600"/>
              <a:t>z</a:t>
            </a:r>
            <a:r>
              <a:rPr lang="en-US" sz="2600"/>
              <a:t>, 𝛿</a:t>
            </a:r>
            <a:r>
              <a:rPr baseline="-25000" lang="en-US" sz="2600"/>
              <a:t>x</a:t>
            </a:r>
            <a:r>
              <a:rPr lang="en-US" sz="2600"/>
              <a:t>, and </a:t>
            </a:r>
            <a:r>
              <a:rPr lang="en-US" sz="2600">
                <a:solidFill>
                  <a:schemeClr val="dk1"/>
                </a:solidFill>
              </a:rPr>
              <a:t>𝛿</a:t>
            </a:r>
            <a:r>
              <a:rPr baseline="-25000" lang="en-US" sz="2600">
                <a:solidFill>
                  <a:schemeClr val="dk1"/>
                </a:solidFill>
              </a:rPr>
              <a:t>z</a:t>
            </a:r>
            <a:r>
              <a:rPr lang="en-US" sz="2600"/>
              <a:t>. Measurements must be taken twice to calculate all stiffnesses</a:t>
            </a:r>
            <a:endParaRPr sz="2600"/>
          </a:p>
        </p:txBody>
      </p:sp>
      <p:sp>
        <p:nvSpPr>
          <p:cNvPr id="112" name="Google Shape;112;p1"/>
          <p:cNvSpPr/>
          <p:nvPr/>
        </p:nvSpPr>
        <p:spPr>
          <a:xfrm>
            <a:off x="482850" y="16525750"/>
            <a:ext cx="672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Fundamental Theory</a:t>
            </a:r>
            <a:endParaRPr/>
          </a:p>
        </p:txBody>
      </p:sp>
      <p:sp>
        <p:nvSpPr>
          <p:cNvPr id="113" name="Google Shape;113;p1"/>
          <p:cNvSpPr/>
          <p:nvPr/>
        </p:nvSpPr>
        <p:spPr>
          <a:xfrm>
            <a:off x="24316483" y="12981125"/>
            <a:ext cx="54363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Data Acquisition</a:t>
            </a:r>
            <a:endParaRPr/>
          </a:p>
        </p:txBody>
      </p:sp>
      <p:sp>
        <p:nvSpPr>
          <p:cNvPr id="114" name="Google Shape;114;p1"/>
          <p:cNvSpPr txBox="1"/>
          <p:nvPr/>
        </p:nvSpPr>
        <p:spPr>
          <a:xfrm>
            <a:off x="24335925" y="9084625"/>
            <a:ext cx="8547000" cy="3879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400"/>
              <a:t>Force and distance are measurements decoupled from machine compliance by a metrology frame. X and Z force measurements are taken with load cells, and are decoupled from each other by flexures with relative stiffness of &gt;100:1, along with load cell orientation. Distance measurement is taken directly at the interface where forces are delivered to the specimen. Dial indicators are used for distance measurements. This design decouples the force delivery mechanism from the metrology frame to ensure maximum accuracy.</a:t>
            </a:r>
            <a:endParaRPr sz="2400"/>
          </a:p>
        </p:txBody>
      </p:sp>
      <p:sp>
        <p:nvSpPr>
          <p:cNvPr id="115" name="Google Shape;115;p1"/>
          <p:cNvSpPr txBox="1"/>
          <p:nvPr/>
        </p:nvSpPr>
        <p:spPr>
          <a:xfrm>
            <a:off x="24318850" y="4876673"/>
            <a:ext cx="12735900" cy="35094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400"/>
              <a:t>The force delivery transmission of the machine is designed to consist of a hand-crank, a set of worm-gear, and a lead-screw mechanism. The design enables low torque input achievable by an average person (~5Nm) to deliver a high force output to the specimen (~10kN), while maintaining high displacement resolution (0.3mm per handle turn). The manually operated hand-crank drives a 10:1 worm gear mechanism to deliver 10x mechanical advantage and convert horizontal rotary motion into vertical rotary motion. The worm gear then drives a 5/8-8 ACME lead screw mechanism to convert rotary motion into linear translation with up to 10kN force delivery capability. The entire mechanism is designed to have at least an safety factor of 2.  </a:t>
            </a:r>
            <a:endParaRPr sz="2400"/>
          </a:p>
        </p:txBody>
      </p:sp>
      <p:pic>
        <p:nvPicPr>
          <p:cNvPr id="116" name="Google Shape;116;p1"/>
          <p:cNvPicPr preferRelativeResize="0"/>
          <p:nvPr/>
        </p:nvPicPr>
        <p:blipFill rotWithShape="1">
          <a:blip r:embed="rId8">
            <a:alphaModFix/>
          </a:blip>
          <a:srcRect b="8893" l="31957" r="34667" t="11773"/>
          <a:stretch/>
        </p:blipFill>
        <p:spPr>
          <a:xfrm>
            <a:off x="933426" y="21456762"/>
            <a:ext cx="9183775" cy="10647814"/>
          </a:xfrm>
          <a:prstGeom prst="rect">
            <a:avLst/>
          </a:prstGeom>
          <a:noFill/>
          <a:ln>
            <a:noFill/>
          </a:ln>
        </p:spPr>
      </p:pic>
      <p:sp>
        <p:nvSpPr>
          <p:cNvPr id="117" name="Google Shape;117;p1"/>
          <p:cNvSpPr txBox="1"/>
          <p:nvPr/>
        </p:nvSpPr>
        <p:spPr>
          <a:xfrm>
            <a:off x="11940775" y="31615925"/>
            <a:ext cx="256242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t>Our team would like to thank the following individuals and communities: Prof. Martin Culpepper and Marcel Thomas of MIT Mechanical Engineering, MIT Edgerton Center, MIT GEAR Lab, MIT Architecture Workshops, MIT Laboratory for Manufacturing and Productivity, MIT MakerWorkshop, Q’s dog, </a:t>
            </a:r>
            <a:r>
              <a:rPr lang="en-US" sz="2600">
                <a:solidFill>
                  <a:schemeClr val="dk1"/>
                </a:solidFill>
              </a:rPr>
              <a:t>Zain’s dog</a:t>
            </a:r>
            <a:endParaRPr sz="2600"/>
          </a:p>
        </p:txBody>
      </p:sp>
      <p:graphicFrame>
        <p:nvGraphicFramePr>
          <p:cNvPr id="118" name="Google Shape;118;p1"/>
          <p:cNvGraphicFramePr/>
          <p:nvPr/>
        </p:nvGraphicFramePr>
        <p:xfrm>
          <a:off x="482838" y="9031720"/>
          <a:ext cx="3000000" cy="3000000"/>
        </p:xfrm>
        <a:graphic>
          <a:graphicData uri="http://schemas.openxmlformats.org/drawingml/2006/table">
            <a:tbl>
              <a:tblPr>
                <a:noFill/>
                <a:tableStyleId>{0F45138C-2CBD-4C80-A89C-059BB7349AF9}</a:tableStyleId>
              </a:tblPr>
              <a:tblGrid>
                <a:gridCol w="2763825"/>
                <a:gridCol w="628875"/>
                <a:gridCol w="1734100"/>
                <a:gridCol w="1728125"/>
                <a:gridCol w="1755550"/>
                <a:gridCol w="1932175"/>
              </a:tblGrid>
              <a:tr h="724700">
                <a:tc gridSpan="2">
                  <a:txBody>
                    <a:bodyPr/>
                    <a:lstStyle/>
                    <a:p>
                      <a:pPr indent="0" lvl="0" marL="0" rtl="0" algn="ctr">
                        <a:spcBef>
                          <a:spcPts val="0"/>
                        </a:spcBef>
                        <a:spcAft>
                          <a:spcPts val="0"/>
                        </a:spcAft>
                        <a:buNone/>
                      </a:pPr>
                      <a:r>
                        <a:rPr lang="en-US" sz="3200"/>
                        <a:t>Functional Requirements</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lang="en-US" sz="3200"/>
                        <a:t>Proposed [Force|Distance]</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hMerge="1"/>
                <a:tc gridSpan="2">
                  <a:txBody>
                    <a:bodyPr/>
                    <a:lstStyle/>
                    <a:p>
                      <a:pPr indent="0" lvl="0" marL="0" rtl="0" algn="ctr">
                        <a:spcBef>
                          <a:spcPts val="0"/>
                        </a:spcBef>
                        <a:spcAft>
                          <a:spcPts val="0"/>
                        </a:spcAft>
                        <a:buNone/>
                      </a:pPr>
                      <a:r>
                        <a:rPr lang="en-US" sz="3200"/>
                        <a:t>Measured [Force|Distance]</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hMerge="1"/>
              </a:tr>
              <a:tr h="724700">
                <a:tc rowSpan="2">
                  <a:txBody>
                    <a:bodyPr/>
                    <a:lstStyle/>
                    <a:p>
                      <a:pPr indent="0" lvl="0" marL="0" rtl="0" algn="ctr">
                        <a:spcBef>
                          <a:spcPts val="0"/>
                        </a:spcBef>
                        <a:spcAft>
                          <a:spcPts val="0"/>
                        </a:spcAft>
                        <a:buNone/>
                      </a:pPr>
                      <a:r>
                        <a:rPr lang="en-US" sz="3200"/>
                        <a:t>Accuracy</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z</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100N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0.02mm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0.01mm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vMerge="1"/>
                <a:tc>
                  <a:txBody>
                    <a:bodyPr/>
                    <a:lstStyle/>
                    <a:p>
                      <a:pPr indent="0" lvl="0" marL="0" rtl="0" algn="ctr">
                        <a:spcBef>
                          <a:spcPts val="0"/>
                        </a:spcBef>
                        <a:spcAft>
                          <a:spcPts val="0"/>
                        </a:spcAft>
                        <a:buNone/>
                      </a:pPr>
                      <a:r>
                        <a:rPr lang="en-US" sz="3200">
                          <a:solidFill>
                            <a:schemeClr val="dk1"/>
                          </a:solidFill>
                        </a:rPr>
                        <a:t>x</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chemeClr val="dk1"/>
                          </a:solidFill>
                        </a:rPr>
                        <a:t>10N</a:t>
                      </a:r>
                      <a:endParaRPr sz="3200">
                        <a:solidFill>
                          <a:schemeClr val="dk1"/>
                        </a:solidFill>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Fixed</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N/A</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rowSpan="2">
                  <a:txBody>
                    <a:bodyPr/>
                    <a:lstStyle/>
                    <a:p>
                      <a:pPr indent="0" lvl="0" marL="0" rtl="0" algn="ctr">
                        <a:spcBef>
                          <a:spcPts val="0"/>
                        </a:spcBef>
                        <a:spcAft>
                          <a:spcPts val="0"/>
                        </a:spcAft>
                        <a:buNone/>
                      </a:pPr>
                      <a:r>
                        <a:rPr lang="en-US" sz="3200"/>
                        <a:t>Repeatability</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z</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chemeClr val="dk1"/>
                          </a:solidFill>
                        </a:rPr>
                        <a:t>100N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0.02mm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10N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0.01mm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vMerge="1"/>
                <a:tc>
                  <a:txBody>
                    <a:bodyPr/>
                    <a:lstStyle/>
                    <a:p>
                      <a:pPr indent="0" lvl="0" marL="0" rtl="0" algn="ctr">
                        <a:spcBef>
                          <a:spcPts val="0"/>
                        </a:spcBef>
                        <a:spcAft>
                          <a:spcPts val="0"/>
                        </a:spcAft>
                        <a:buNone/>
                      </a:pPr>
                      <a:r>
                        <a:rPr lang="en-US" sz="3200">
                          <a:solidFill>
                            <a:schemeClr val="dk1"/>
                          </a:solidFill>
                        </a:rPr>
                        <a:t>x</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chemeClr val="dk1"/>
                          </a:solidFill>
                        </a:rPr>
                        <a:t>10N</a:t>
                      </a:r>
                      <a:endParaRPr sz="3200">
                        <a:solidFill>
                          <a:schemeClr val="dk1"/>
                        </a:solidFill>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Fixed</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10N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N/A</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rowSpan="2">
                  <a:txBody>
                    <a:bodyPr/>
                    <a:lstStyle/>
                    <a:p>
                      <a:pPr indent="0" lvl="0" marL="0" rtl="0" algn="ctr">
                        <a:spcBef>
                          <a:spcPts val="0"/>
                        </a:spcBef>
                        <a:spcAft>
                          <a:spcPts val="0"/>
                        </a:spcAft>
                        <a:buNone/>
                      </a:pPr>
                      <a:r>
                        <a:rPr lang="en-US" sz="3200"/>
                        <a:t>Resolution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z</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100N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0.02mm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0.005mm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vMerge="1"/>
                <a:tc>
                  <a:txBody>
                    <a:bodyPr/>
                    <a:lstStyle/>
                    <a:p>
                      <a:pPr indent="0" lvl="0" marL="0" rtl="0" algn="ctr">
                        <a:spcBef>
                          <a:spcPts val="0"/>
                        </a:spcBef>
                        <a:spcAft>
                          <a:spcPts val="0"/>
                        </a:spcAft>
                        <a:buNone/>
                      </a:pPr>
                      <a:r>
                        <a:rPr lang="en-US" sz="3200">
                          <a:solidFill>
                            <a:schemeClr val="dk1"/>
                          </a:solidFill>
                        </a:rPr>
                        <a:t>x</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chemeClr val="dk1"/>
                          </a:solidFill>
                        </a:rPr>
                        <a:t>10N</a:t>
                      </a:r>
                      <a:endParaRPr sz="3200">
                        <a:solidFill>
                          <a:schemeClr val="dk1"/>
                        </a:solidFill>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Fixed</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0.3N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N/A</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rowSpan="2">
                  <a:txBody>
                    <a:bodyPr/>
                    <a:lstStyle/>
                    <a:p>
                      <a:pPr indent="0" lvl="0" marL="0" rtl="0" algn="ctr">
                        <a:spcBef>
                          <a:spcPts val="0"/>
                        </a:spcBef>
                        <a:spcAft>
                          <a:spcPts val="0"/>
                        </a:spcAft>
                        <a:buNone/>
                      </a:pPr>
                      <a:r>
                        <a:rPr lang="en-US" sz="3200">
                          <a:solidFill>
                            <a:schemeClr val="dk1"/>
                          </a:solidFill>
                        </a:rPr>
                        <a:t>Range</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z</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10kN</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2mm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&gt;10kN </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6.5mm</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r h="724700">
                <a:tc vMerge="1"/>
                <a:tc>
                  <a:txBody>
                    <a:bodyPr/>
                    <a:lstStyle/>
                    <a:p>
                      <a:pPr indent="0" lvl="0" marL="0" rtl="0" algn="ctr">
                        <a:spcBef>
                          <a:spcPts val="0"/>
                        </a:spcBef>
                        <a:spcAft>
                          <a:spcPts val="0"/>
                        </a:spcAft>
                        <a:buNone/>
                      </a:pPr>
                      <a:r>
                        <a:rPr lang="en-US" sz="3200">
                          <a:solidFill>
                            <a:schemeClr val="dk1"/>
                          </a:solidFill>
                        </a:rPr>
                        <a:t>x</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solidFill>
                            <a:schemeClr val="dk1"/>
                          </a:solidFill>
                        </a:rPr>
                        <a:t>1kN</a:t>
                      </a:r>
                      <a:endParaRPr sz="3200">
                        <a:solidFill>
                          <a:schemeClr val="dk1"/>
                        </a:solidFill>
                      </a:endParaRPr>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Fixed</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US" sz="3200"/>
                        <a:t>&gt;1kN </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c>
                  <a:txBody>
                    <a:bodyPr/>
                    <a:lstStyle/>
                    <a:p>
                      <a:pPr indent="0" lvl="0" marL="0" rtl="0" algn="ctr">
                        <a:spcBef>
                          <a:spcPts val="0"/>
                        </a:spcBef>
                        <a:spcAft>
                          <a:spcPts val="0"/>
                        </a:spcAft>
                        <a:buNone/>
                      </a:pPr>
                      <a:r>
                        <a:rPr lang="en-US" sz="3200"/>
                        <a:t>N/A</a:t>
                      </a:r>
                      <a:endParaRPr sz="3200"/>
                    </a:p>
                  </a:txBody>
                  <a:tcPr marT="91425" marB="91425" marR="91425" marL="91425" anchor="ctr">
                    <a:lnL cap="flat" cmpd="sng" w="28575">
                      <a:solidFill>
                        <a:srgbClr val="9E9E9E"/>
                      </a:solidFill>
                      <a:prstDash val="solid"/>
                      <a:round/>
                      <a:headEnd len="sm" w="sm" type="none"/>
                      <a:tailEnd len="sm" w="sm" type="none"/>
                    </a:lnL>
                    <a:lnR cap="flat" cmpd="sng" w="28575">
                      <a:solidFill>
                        <a:srgbClr val="9E9E9E"/>
                      </a:solidFill>
                      <a:prstDash val="solid"/>
                      <a:round/>
                      <a:headEnd len="sm" w="sm" type="none"/>
                      <a:tailEnd len="sm" w="sm" type="none"/>
                    </a:lnR>
                    <a:lnT cap="flat" cmpd="sng" w="28575">
                      <a:solidFill>
                        <a:srgbClr val="9E9E9E"/>
                      </a:solidFill>
                      <a:prstDash val="solid"/>
                      <a:round/>
                      <a:headEnd len="sm" w="sm" type="none"/>
                      <a:tailEnd len="sm" w="sm" type="none"/>
                    </a:lnT>
                    <a:lnB cap="flat" cmpd="sng" w="28575">
                      <a:solidFill>
                        <a:srgbClr val="9E9E9E"/>
                      </a:solidFill>
                      <a:prstDash val="solid"/>
                      <a:round/>
                      <a:headEnd len="sm" w="sm" type="none"/>
                      <a:tailEnd len="sm" w="sm" type="none"/>
                    </a:lnB>
                    <a:solidFill>
                      <a:srgbClr val="93C47D"/>
                    </a:solidFill>
                  </a:tcPr>
                </a:tc>
              </a:tr>
            </a:tbl>
          </a:graphicData>
        </a:graphic>
      </p:graphicFrame>
      <p:cxnSp>
        <p:nvCxnSpPr>
          <p:cNvPr id="119" name="Google Shape;119;p1"/>
          <p:cNvCxnSpPr>
            <a:stCxn id="103" idx="1"/>
          </p:cNvCxnSpPr>
          <p:nvPr/>
        </p:nvCxnSpPr>
        <p:spPr>
          <a:xfrm flipH="1">
            <a:off x="22361383" y="4496413"/>
            <a:ext cx="1955100" cy="6495600"/>
          </a:xfrm>
          <a:prstGeom prst="bentConnector2">
            <a:avLst/>
          </a:prstGeom>
          <a:noFill/>
          <a:ln cap="flat" cmpd="sng" w="38100">
            <a:solidFill>
              <a:srgbClr val="800000"/>
            </a:solidFill>
            <a:prstDash val="solid"/>
            <a:round/>
            <a:headEnd len="med" w="med" type="none"/>
            <a:tailEnd len="med" w="med" type="none"/>
          </a:ln>
        </p:spPr>
      </p:cxnSp>
      <p:cxnSp>
        <p:nvCxnSpPr>
          <p:cNvPr id="120" name="Google Shape;120;p1"/>
          <p:cNvCxnSpPr>
            <a:stCxn id="99" idx="1"/>
          </p:cNvCxnSpPr>
          <p:nvPr/>
        </p:nvCxnSpPr>
        <p:spPr>
          <a:xfrm flipH="1">
            <a:off x="23311182" y="8729000"/>
            <a:ext cx="1005300" cy="14178600"/>
          </a:xfrm>
          <a:prstGeom prst="bentConnector2">
            <a:avLst/>
          </a:prstGeom>
          <a:noFill/>
          <a:ln cap="flat" cmpd="sng" w="38100">
            <a:solidFill>
              <a:srgbClr val="800000"/>
            </a:solidFill>
            <a:prstDash val="solid"/>
            <a:round/>
            <a:headEnd len="med" w="med" type="none"/>
            <a:tailEnd len="med" w="med" type="none"/>
          </a:ln>
        </p:spPr>
      </p:cxnSp>
      <p:cxnSp>
        <p:nvCxnSpPr>
          <p:cNvPr id="121" name="Google Shape;121;p1"/>
          <p:cNvCxnSpPr/>
          <p:nvPr/>
        </p:nvCxnSpPr>
        <p:spPr>
          <a:xfrm>
            <a:off x="19867050" y="22879850"/>
            <a:ext cx="3422400" cy="0"/>
          </a:xfrm>
          <a:prstGeom prst="straightConnector1">
            <a:avLst/>
          </a:prstGeom>
          <a:noFill/>
          <a:ln cap="flat" cmpd="sng" w="38100">
            <a:solidFill>
              <a:srgbClr val="800000"/>
            </a:solidFill>
            <a:prstDash val="solid"/>
            <a:round/>
            <a:headEnd len="med" w="med" type="none"/>
            <a:tailEnd len="med" w="med" type="none"/>
          </a:ln>
        </p:spPr>
      </p:cxnSp>
      <p:cxnSp>
        <p:nvCxnSpPr>
          <p:cNvPr id="122" name="Google Shape;122;p1"/>
          <p:cNvCxnSpPr/>
          <p:nvPr/>
        </p:nvCxnSpPr>
        <p:spPr>
          <a:xfrm>
            <a:off x="20273100" y="10992025"/>
            <a:ext cx="2088300" cy="0"/>
          </a:xfrm>
          <a:prstGeom prst="straightConnector1">
            <a:avLst/>
          </a:prstGeom>
          <a:noFill/>
          <a:ln cap="flat" cmpd="sng" w="38100">
            <a:solidFill>
              <a:srgbClr val="800000"/>
            </a:solidFill>
            <a:prstDash val="solid"/>
            <a:round/>
            <a:headEnd len="med" w="med" type="none"/>
            <a:tailEnd len="med" w="med" type="none"/>
          </a:ln>
        </p:spPr>
      </p:cxnSp>
      <p:pic>
        <p:nvPicPr>
          <p:cNvPr id="123" name="Google Shape;123;p1"/>
          <p:cNvPicPr preferRelativeResize="0"/>
          <p:nvPr/>
        </p:nvPicPr>
        <p:blipFill>
          <a:blip r:embed="rId9">
            <a:alphaModFix/>
          </a:blip>
          <a:stretch>
            <a:fillRect/>
          </a:stretch>
        </p:blipFill>
        <p:spPr>
          <a:xfrm>
            <a:off x="33196294" y="8098100"/>
            <a:ext cx="3670707" cy="2629700"/>
          </a:xfrm>
          <a:prstGeom prst="rect">
            <a:avLst/>
          </a:prstGeom>
          <a:noFill/>
          <a:ln>
            <a:noFill/>
          </a:ln>
        </p:spPr>
      </p:pic>
      <p:pic>
        <p:nvPicPr>
          <p:cNvPr id="124" name="Google Shape;124;p1"/>
          <p:cNvPicPr preferRelativeResize="0"/>
          <p:nvPr/>
        </p:nvPicPr>
        <p:blipFill>
          <a:blip r:embed="rId10">
            <a:alphaModFix/>
          </a:blip>
          <a:stretch>
            <a:fillRect/>
          </a:stretch>
        </p:blipFill>
        <p:spPr>
          <a:xfrm>
            <a:off x="33243650" y="10727800"/>
            <a:ext cx="3670701" cy="2284267"/>
          </a:xfrm>
          <a:prstGeom prst="rect">
            <a:avLst/>
          </a:prstGeom>
          <a:noFill/>
          <a:ln>
            <a:noFill/>
          </a:ln>
        </p:spPr>
      </p:pic>
      <p:sp>
        <p:nvSpPr>
          <p:cNvPr id="125" name="Google Shape;125;p1"/>
          <p:cNvSpPr txBox="1"/>
          <p:nvPr/>
        </p:nvSpPr>
        <p:spPr>
          <a:xfrm>
            <a:off x="24106900" y="29877175"/>
            <a:ext cx="117351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There were a couple areas with overconstraint that could be fixed with future work</a:t>
            </a:r>
            <a:endParaRPr sz="2400"/>
          </a:p>
          <a:p>
            <a:pPr indent="-381000" lvl="0" marL="457200" rtl="0" algn="l">
              <a:spcBef>
                <a:spcPts val="0"/>
              </a:spcBef>
              <a:spcAft>
                <a:spcPts val="0"/>
              </a:spcAft>
              <a:buSzPts val="2400"/>
              <a:buChar char="●"/>
            </a:pPr>
            <a:r>
              <a:rPr lang="en-US" sz="2400"/>
              <a:t>Rail flexure on the coarse Z adjustment</a:t>
            </a:r>
            <a:endParaRPr sz="2400"/>
          </a:p>
          <a:p>
            <a:pPr indent="-381000" lvl="0" marL="457200" rtl="0" algn="l">
              <a:spcBef>
                <a:spcPts val="0"/>
              </a:spcBef>
              <a:spcAft>
                <a:spcPts val="0"/>
              </a:spcAft>
              <a:buSzPts val="2400"/>
              <a:buChar char="●"/>
            </a:pPr>
            <a:r>
              <a:rPr lang="en-US" sz="2400"/>
              <a:t>Stiffer linear guide for force application and better x-axis runout isolation</a:t>
            </a:r>
            <a:endParaRPr sz="2400"/>
          </a:p>
          <a:p>
            <a:pPr indent="-381000" lvl="0" marL="457200" rtl="0" algn="l">
              <a:spcBef>
                <a:spcPts val="0"/>
              </a:spcBef>
              <a:spcAft>
                <a:spcPts val="0"/>
              </a:spcAft>
              <a:buSzPts val="2400"/>
              <a:buChar char="●"/>
            </a:pPr>
            <a:r>
              <a:rPr lang="en-US" sz="2400"/>
              <a:t>Addition of X movable stage for direct k_xx measurement</a:t>
            </a:r>
            <a:endParaRPr sz="2400"/>
          </a:p>
        </p:txBody>
      </p:sp>
      <p:sp>
        <p:nvSpPr>
          <p:cNvPr id="126" name="Google Shape;126;p1"/>
          <p:cNvSpPr txBox="1"/>
          <p:nvPr/>
        </p:nvSpPr>
        <p:spPr>
          <a:xfrm>
            <a:off x="24335500" y="20170050"/>
            <a:ext cx="13458000" cy="32787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b="1" lang="en-US" sz="2400">
                <a:solidFill>
                  <a:schemeClr val="dk1"/>
                </a:solidFill>
              </a:rPr>
              <a:t>Strength Test</a:t>
            </a:r>
            <a:r>
              <a:rPr lang="en-US" sz="2400">
                <a:solidFill>
                  <a:schemeClr val="dk1"/>
                </a:solidFill>
              </a:rPr>
              <a:t>:</a:t>
            </a:r>
            <a:endParaRPr sz="2400">
              <a:solidFill>
                <a:schemeClr val="dk1"/>
              </a:solidFill>
            </a:endParaRPr>
          </a:p>
          <a:p>
            <a:pPr indent="-381000" lvl="0" marL="457200" rtl="0" algn="l">
              <a:spcBef>
                <a:spcPts val="360"/>
              </a:spcBef>
              <a:spcAft>
                <a:spcPts val="0"/>
              </a:spcAft>
              <a:buClr>
                <a:schemeClr val="dk1"/>
              </a:buClr>
              <a:buSzPts val="2400"/>
              <a:buChar char="●"/>
            </a:pPr>
            <a:r>
              <a:rPr lang="en-US" sz="2400">
                <a:solidFill>
                  <a:schemeClr val="dk1"/>
                </a:solidFill>
              </a:rPr>
              <a:t>Tested up to 9.5kN in z-axis before electronics are saturated, </a:t>
            </a:r>
            <a:r>
              <a:rPr lang="en-US" sz="2400">
                <a:solidFill>
                  <a:schemeClr val="dk1"/>
                </a:solidFill>
              </a:rPr>
              <a:t>imposed </a:t>
            </a:r>
            <a:r>
              <a:rPr lang="en-US" sz="2400">
                <a:solidFill>
                  <a:schemeClr val="dk1"/>
                </a:solidFill>
              </a:rPr>
              <a:t>an </a:t>
            </a:r>
            <a:r>
              <a:rPr lang="en-US" sz="2400">
                <a:solidFill>
                  <a:schemeClr val="dk1"/>
                </a:solidFill>
              </a:rPr>
              <a:t>additional</a:t>
            </a:r>
            <a:r>
              <a:rPr lang="en-US" sz="2400">
                <a:solidFill>
                  <a:schemeClr val="dk1"/>
                </a:solidFill>
              </a:rPr>
              <a:t> 1 turn afterward and confident that the hardware sustained 10kN load. Also tested parasitic sideload up to 1kN in X by applying 4.5kN in Z to a slanted structure.</a:t>
            </a:r>
            <a:endParaRPr sz="2400">
              <a:solidFill>
                <a:schemeClr val="dk1"/>
              </a:solidFill>
            </a:endParaRPr>
          </a:p>
          <a:p>
            <a:pPr indent="0" lvl="0" marL="0" rtl="0" algn="l">
              <a:spcBef>
                <a:spcPts val="360"/>
              </a:spcBef>
              <a:spcAft>
                <a:spcPts val="0"/>
              </a:spcAft>
              <a:buNone/>
            </a:pPr>
            <a:r>
              <a:rPr b="1" lang="en-US" sz="2400">
                <a:solidFill>
                  <a:schemeClr val="dk1"/>
                </a:solidFill>
              </a:rPr>
              <a:t>Specimen Stiffness Test:</a:t>
            </a:r>
            <a:endParaRPr sz="2400">
              <a:solidFill>
                <a:schemeClr val="dk1"/>
              </a:solidFill>
            </a:endParaRPr>
          </a:p>
          <a:p>
            <a:pPr indent="-381000" lvl="0" marL="457200" rtl="0" algn="l">
              <a:spcBef>
                <a:spcPts val="360"/>
              </a:spcBef>
              <a:spcAft>
                <a:spcPts val="0"/>
              </a:spcAft>
              <a:buClr>
                <a:schemeClr val="dk1"/>
              </a:buClr>
              <a:buSzPts val="2400"/>
              <a:buChar char="●"/>
            </a:pPr>
            <a:r>
              <a:rPr lang="en-US" sz="2400">
                <a:solidFill>
                  <a:schemeClr val="dk1"/>
                </a:solidFill>
              </a:rPr>
              <a:t>A slanted blade and a straight blade flexure specimen are fabricated with known stiffness and tested with the machine. The machine measurement vs FEA </a:t>
            </a:r>
            <a:r>
              <a:rPr lang="en-US" sz="2400">
                <a:solidFill>
                  <a:schemeClr val="dk1"/>
                </a:solidFill>
              </a:rPr>
              <a:t>stiffness</a:t>
            </a:r>
            <a:r>
              <a:rPr lang="en-US" sz="2400">
                <a:solidFill>
                  <a:schemeClr val="dk1"/>
                </a:solidFill>
              </a:rPr>
              <a:t> is shown in the following table. Measured data are shown with 95% </a:t>
            </a:r>
            <a:r>
              <a:rPr lang="en-US" sz="2400">
                <a:solidFill>
                  <a:schemeClr val="dk1"/>
                </a:solidFill>
              </a:rPr>
              <a:t>confidence</a:t>
            </a:r>
            <a:r>
              <a:rPr lang="en-US" sz="2400">
                <a:solidFill>
                  <a:schemeClr val="dk1"/>
                </a:solidFill>
              </a:rPr>
              <a:t> interval.</a:t>
            </a:r>
            <a:endParaRPr sz="2400">
              <a:solidFill>
                <a:schemeClr val="dk1"/>
              </a:solidFill>
            </a:endParaRPr>
          </a:p>
        </p:txBody>
      </p:sp>
      <p:graphicFrame>
        <p:nvGraphicFramePr>
          <p:cNvPr id="127" name="Google Shape;127;p1"/>
          <p:cNvGraphicFramePr/>
          <p:nvPr/>
        </p:nvGraphicFramePr>
        <p:xfrm>
          <a:off x="25027625" y="23448750"/>
          <a:ext cx="3000000" cy="3000000"/>
        </p:xfrm>
        <a:graphic>
          <a:graphicData uri="http://schemas.openxmlformats.org/drawingml/2006/table">
            <a:tbl>
              <a:tblPr>
                <a:noFill/>
                <a:tableStyleId>{0F45138C-2CBD-4C80-A89C-059BB7349AF9}</a:tableStyleId>
              </a:tblPr>
              <a:tblGrid>
                <a:gridCol w="1272275"/>
                <a:gridCol w="1545800"/>
                <a:gridCol w="2933650"/>
                <a:gridCol w="2878975"/>
              </a:tblGrid>
              <a:tr h="292600">
                <a:tc>
                  <a:txBody>
                    <a:bodyPr/>
                    <a:lstStyle/>
                    <a:p>
                      <a:pPr indent="0" lvl="0" marL="0" rtl="0" algn="ctr">
                        <a:spcBef>
                          <a:spcPts val="0"/>
                        </a:spcBef>
                        <a:spcAft>
                          <a:spcPts val="0"/>
                        </a:spcAft>
                        <a:buNone/>
                      </a:pPr>
                      <a:r>
                        <a:rPr lang="en-US" sz="1800"/>
                        <a:t>Flexure</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Stiffness</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FEA</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Measured</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2600">
                <a:tc rowSpan="3">
                  <a:txBody>
                    <a:bodyPr/>
                    <a:lstStyle/>
                    <a:p>
                      <a:pPr indent="0" lvl="0" marL="0" rtl="0" algn="ctr">
                        <a:spcBef>
                          <a:spcPts val="0"/>
                        </a:spcBef>
                        <a:spcAft>
                          <a:spcPts val="0"/>
                        </a:spcAft>
                        <a:buNone/>
                      </a:pPr>
                      <a:r>
                        <a:rPr lang="en-US" sz="1800"/>
                        <a:t>Slant</a:t>
                      </a:r>
                      <a:endParaRPr sz="1800"/>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K_zz</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90.9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10 </a:t>
                      </a:r>
                      <a:r>
                        <a:rPr lang="en-US" sz="1800">
                          <a:solidFill>
                            <a:schemeClr val="dk1"/>
                          </a:solidFill>
                        </a:rPr>
                        <a:t>± 8.3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2600">
                <a:tc vMerge="1"/>
                <a:tc>
                  <a:txBody>
                    <a:bodyPr/>
                    <a:lstStyle/>
                    <a:p>
                      <a:pPr indent="0" lvl="0" marL="0" rtl="0" algn="l">
                        <a:spcBef>
                          <a:spcPts val="0"/>
                        </a:spcBef>
                        <a:spcAft>
                          <a:spcPts val="0"/>
                        </a:spcAft>
                        <a:buNone/>
                      </a:pPr>
                      <a:r>
                        <a:rPr lang="en-US" sz="1800"/>
                        <a:t>K_xx</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3.</a:t>
                      </a:r>
                      <a:r>
                        <a:rPr lang="en-US" sz="1800"/>
                        <a:t>38 </a:t>
                      </a:r>
                      <a:r>
                        <a:rPr lang="en-US" sz="1800">
                          <a:solidFill>
                            <a:schemeClr val="dk1"/>
                          </a:solidFill>
                        </a:rPr>
                        <a:t>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0.4 </a:t>
                      </a:r>
                      <a:r>
                        <a:rPr lang="en-US" sz="1800">
                          <a:solidFill>
                            <a:schemeClr val="dk1"/>
                          </a:solidFill>
                        </a:rPr>
                        <a:t>± 0.53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2600">
                <a:tc vMerge="1"/>
                <a:tc>
                  <a:txBody>
                    <a:bodyPr/>
                    <a:lstStyle/>
                    <a:p>
                      <a:pPr indent="0" lvl="0" marL="0" rtl="0" algn="l">
                        <a:spcBef>
                          <a:spcPts val="0"/>
                        </a:spcBef>
                        <a:spcAft>
                          <a:spcPts val="0"/>
                        </a:spcAft>
                        <a:buNone/>
                      </a:pPr>
                      <a:r>
                        <a:rPr lang="en-US" sz="1800"/>
                        <a:t>K_xz</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15.5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1.8 </a:t>
                      </a:r>
                      <a:r>
                        <a:rPr lang="en-US" sz="1800">
                          <a:solidFill>
                            <a:schemeClr val="dk1"/>
                          </a:solidFill>
                        </a:rPr>
                        <a:t>± 1.4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292600">
                <a:tc>
                  <a:txBody>
                    <a:bodyPr/>
                    <a:lstStyle/>
                    <a:p>
                      <a:pPr indent="0" lvl="0" marL="0" rtl="0" algn="ctr">
                        <a:spcBef>
                          <a:spcPts val="0"/>
                        </a:spcBef>
                        <a:spcAft>
                          <a:spcPts val="0"/>
                        </a:spcAft>
                        <a:buNone/>
                      </a:pPr>
                      <a:r>
                        <a:rPr lang="en-US" sz="1800"/>
                        <a:t>Straight</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K_zz</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800"/>
                        <a:t>1.23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US" sz="1800">
                          <a:solidFill>
                            <a:schemeClr val="dk1"/>
                          </a:solidFill>
                        </a:rPr>
                        <a:t>1.27 ± 0.27 N/um</a:t>
                      </a:r>
                      <a:endParaRPr sz="1800"/>
                    </a:p>
                  </a:txBody>
                  <a:tcPr marT="0" marB="0"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28" name="Google Shape;128;p1"/>
          <p:cNvPicPr preferRelativeResize="0"/>
          <p:nvPr/>
        </p:nvPicPr>
        <p:blipFill rotWithShape="1">
          <a:blip r:embed="rId11">
            <a:alphaModFix/>
          </a:blip>
          <a:srcRect b="19015" l="6220" r="52720" t="42049"/>
          <a:stretch/>
        </p:blipFill>
        <p:spPr>
          <a:xfrm>
            <a:off x="24488325" y="13892379"/>
            <a:ext cx="2773025" cy="2629700"/>
          </a:xfrm>
          <a:prstGeom prst="rect">
            <a:avLst/>
          </a:prstGeom>
          <a:noFill/>
          <a:ln>
            <a:noFill/>
          </a:ln>
        </p:spPr>
      </p:pic>
      <p:pic>
        <p:nvPicPr>
          <p:cNvPr id="129" name="Google Shape;129;p1"/>
          <p:cNvPicPr preferRelativeResize="0"/>
          <p:nvPr/>
        </p:nvPicPr>
        <p:blipFill>
          <a:blip r:embed="rId12">
            <a:alphaModFix/>
          </a:blip>
          <a:stretch>
            <a:fillRect/>
          </a:stretch>
        </p:blipFill>
        <p:spPr>
          <a:xfrm>
            <a:off x="25337400" y="25104525"/>
            <a:ext cx="12836266" cy="3879001"/>
          </a:xfrm>
          <a:prstGeom prst="rect">
            <a:avLst/>
          </a:prstGeom>
          <a:noFill/>
          <a:ln>
            <a:noFill/>
          </a:ln>
        </p:spPr>
      </p:pic>
      <p:sp>
        <p:nvSpPr>
          <p:cNvPr id="130" name="Google Shape;130;p1"/>
          <p:cNvSpPr/>
          <p:nvPr/>
        </p:nvSpPr>
        <p:spPr>
          <a:xfrm>
            <a:off x="24106894" y="29014038"/>
            <a:ext cx="5087400" cy="760500"/>
          </a:xfrm>
          <a:prstGeom prst="roundRect">
            <a:avLst>
              <a:gd fmla="val 16667" name="adj"/>
            </a:avLst>
          </a:prstGeom>
          <a:solidFill>
            <a:srgbClr val="8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000">
                <a:solidFill>
                  <a:schemeClr val="lt1"/>
                </a:solidFill>
              </a:rPr>
              <a:t>Future Works</a:t>
            </a:r>
            <a:endParaRPr/>
          </a:p>
        </p:txBody>
      </p:sp>
      <p:pic>
        <p:nvPicPr>
          <p:cNvPr id="131" name="Google Shape;131;p1"/>
          <p:cNvPicPr preferRelativeResize="0"/>
          <p:nvPr/>
        </p:nvPicPr>
        <p:blipFill rotWithShape="1">
          <a:blip r:embed="rId13">
            <a:alphaModFix/>
          </a:blip>
          <a:srcRect b="8534" l="48190" r="30476" t="19991"/>
          <a:stretch/>
        </p:blipFill>
        <p:spPr>
          <a:xfrm>
            <a:off x="25027625" y="25203698"/>
            <a:ext cx="756106" cy="1385399"/>
          </a:xfrm>
          <a:prstGeom prst="rect">
            <a:avLst/>
          </a:prstGeom>
          <a:noFill/>
          <a:ln>
            <a:noFill/>
          </a:ln>
        </p:spPr>
      </p:pic>
      <p:pic>
        <p:nvPicPr>
          <p:cNvPr id="132" name="Google Shape;132;p1"/>
          <p:cNvPicPr preferRelativeResize="0"/>
          <p:nvPr/>
        </p:nvPicPr>
        <p:blipFill rotWithShape="1">
          <a:blip r:embed="rId14">
            <a:alphaModFix/>
          </a:blip>
          <a:srcRect b="22485" l="28503" r="16651" t="34347"/>
          <a:stretch/>
        </p:blipFill>
        <p:spPr>
          <a:xfrm>
            <a:off x="24564095" y="27449550"/>
            <a:ext cx="1766693" cy="760499"/>
          </a:xfrm>
          <a:prstGeom prst="rect">
            <a:avLst/>
          </a:prstGeom>
          <a:noFill/>
          <a:ln>
            <a:noFill/>
          </a:ln>
        </p:spPr>
      </p:pic>
      <p:sp>
        <p:nvSpPr>
          <p:cNvPr id="133" name="Google Shape;133;p1"/>
          <p:cNvSpPr txBox="1"/>
          <p:nvPr/>
        </p:nvSpPr>
        <p:spPr>
          <a:xfrm>
            <a:off x="24829888" y="28210050"/>
            <a:ext cx="1235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solidFill>
                  <a:schemeClr val="dk1"/>
                </a:solidFill>
              </a:rPr>
              <a:t>Straight</a:t>
            </a:r>
            <a:endParaRPr/>
          </a:p>
        </p:txBody>
      </p:sp>
      <p:sp>
        <p:nvSpPr>
          <p:cNvPr id="134" name="Google Shape;134;p1"/>
          <p:cNvSpPr txBox="1"/>
          <p:nvPr/>
        </p:nvSpPr>
        <p:spPr>
          <a:xfrm>
            <a:off x="24788113" y="26589100"/>
            <a:ext cx="1235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solidFill>
                  <a:schemeClr val="dk1"/>
                </a:solidFill>
              </a:rPr>
              <a:t>Slanted</a:t>
            </a:r>
            <a:endParaRPr/>
          </a:p>
        </p:txBody>
      </p:sp>
      <p:sp>
        <p:nvSpPr>
          <p:cNvPr id="135" name="Google Shape;135;p1"/>
          <p:cNvSpPr txBox="1"/>
          <p:nvPr/>
        </p:nvSpPr>
        <p:spPr>
          <a:xfrm>
            <a:off x="34044175" y="23672350"/>
            <a:ext cx="3422400" cy="1015800"/>
          </a:xfrm>
          <a:prstGeom prst="rect">
            <a:avLst/>
          </a:prstGeom>
          <a:noFill/>
          <a:ln>
            <a:noFill/>
          </a:ln>
        </p:spPr>
        <p:txBody>
          <a:bodyPr anchorCtr="0" anchor="t" bIns="91425" lIns="91425" spcFirstLastPara="1" rIns="91425" wrap="square" tIns="91425">
            <a:spAutoFit/>
          </a:bodyPr>
          <a:lstStyle/>
          <a:p>
            <a:pPr indent="0" lvl="0" marL="0" rtl="0" algn="l">
              <a:spcBef>
                <a:spcPts val="360"/>
              </a:spcBef>
              <a:spcAft>
                <a:spcPts val="0"/>
              </a:spcAft>
              <a:buNone/>
            </a:pPr>
            <a:r>
              <a:rPr lang="en-US" sz="1800">
                <a:solidFill>
                  <a:schemeClr val="dk1"/>
                </a:solidFill>
              </a:rPr>
              <a:t>*Potential error contribution in FEA simulations due to improper constraints setup</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2008-07-15T18:17:21Z</dcterms:created>
  <dc:creator>MIT</dc:creator>
</cp:coreProperties>
</file>